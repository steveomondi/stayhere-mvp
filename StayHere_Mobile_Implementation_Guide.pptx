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E0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914400" y="3657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020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91440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9A227"/>
                </a:solidFill>
                <a:latin typeface="Segoe UI"/>
              </a:rPr>
              <a:t>StayHere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1031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Segoe UI"/>
              </a:rPr>
              <a:t>KENYA'S #1 RENTAL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060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Segoe UI"/>
              </a:rPr>
              <a:t>Mobile App — Implementation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004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899BB"/>
                </a:solidFill>
                <a:latin typeface="Segoe UI"/>
              </a:rPr>
              <a:t>Screen-by-screen breakdown for mobile developers.
Production API endpoints  ·  Request/Response samples  ·  Business rules  ·  UI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977639"/>
            <a:ext cx="2834640" cy="292608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4023359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📱 20 Screens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977639"/>
            <a:ext cx="2834640" cy="292608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4023359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🔗 25 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977639"/>
            <a:ext cx="2834640" cy="292608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4023359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🔐 JWT Auth (Tenant only)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361687"/>
            <a:ext cx="2834640" cy="292608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4407407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💳 M-Pesa STK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361687"/>
            <a:ext cx="2834640" cy="292608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4407407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🤖 Sage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361687"/>
            <a:ext cx="2834640" cy="292608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4407407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Segoe UI"/>
              </a:rPr>
              <a:t>☁️ Cloudflare 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64922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88"/>
                </a:solidFill>
                <a:latin typeface="Segoe UI"/>
              </a:rPr>
              <a:t>Base URL:  https://apim-dev-5c27bcf3.azure-api.net   |   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🏗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API Services &amp;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943600" cy="347472"/>
          </a:xfrm>
          <a:prstGeom prst="roundRect">
            <a:avLst>
              <a:gd name="adj" fmla="val 8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Segoe UI"/>
              </a:rPr>
              <a:t>https://apim-dev-5c27bcf3.azure-api.net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943600" cy="475488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45720" cy="475488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025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Auth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116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Segoe UI"/>
              </a:rPr>
              <a:t>/auth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Signup · Login · OTP verification · JWT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14600"/>
            <a:ext cx="5943600" cy="475488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45720" cy="47548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Property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560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Segoe UI"/>
              </a:rPr>
              <a:t>/property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6148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Listings · Bookings · Applications · Upload · Payments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63240"/>
            <a:ext cx="5943600" cy="475488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063240"/>
            <a:ext cx="45720" cy="475488"/>
          </a:xfrm>
          <a:prstGeom prst="roundRect">
            <a:avLst>
              <a:gd name="adj" fmla="val 6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998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Customer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08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Segoe UI"/>
              </a:rPr>
              <a:t>/customers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1012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Customer profile · Dashboard · Saved properties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80"/>
            <a:ext cx="5943600" cy="475488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611880"/>
            <a:ext cx="45720" cy="475488"/>
          </a:xfrm>
          <a:prstGeom prst="roundRect">
            <a:avLst>
              <a:gd name="adj" fmla="val 6000"/>
            </a:avLst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484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AI Agent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6576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  <a:latin typeface="Segoe UI"/>
              </a:rPr>
              <a:t>/aiagent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5876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Sage AI — Respond &amp; Recommend ·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60520"/>
            <a:ext cx="5943600" cy="475488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160520"/>
            <a:ext cx="45720" cy="475488"/>
          </a:xfrm>
          <a:prstGeom prst="roundRect">
            <a:avLst>
              <a:gd name="adj" fmla="val 6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970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Static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206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  <a:latin typeface="Segoe UI"/>
              </a:rPr>
              <a:t>/staticdata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07408"/>
            <a:ext cx="5577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Counties · Amenities · Property types (cache these)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640080"/>
            <a:ext cx="4937760" cy="22860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749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🔐  Auth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113385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1.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113385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B84B"/>
                </a:solidFill>
                <a:latin typeface="Segoe UI"/>
              </a:rPr>
              <a:t>POST /auth/signup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0938" y="113385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 — once per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44475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2.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144475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B84B"/>
                </a:solidFill>
                <a:latin typeface="Segoe UI"/>
              </a:rPr>
              <a:t>POST /auth/login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1088" y="14447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 — OTP sent via email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175564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175564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B84B"/>
                </a:solidFill>
                <a:latin typeface="Segoe UI"/>
              </a:rPr>
              <a:t>POST /auth/verify-otp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0338" y="17556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 — receive JWT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2066544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4.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206654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B84B"/>
                </a:solidFill>
                <a:latin typeface="Segoe UI"/>
              </a:rPr>
              <a:t>Store  token, customerId, role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237744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5.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237744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B84B"/>
                </a:solidFill>
                <a:latin typeface="Segoe UI"/>
              </a:rPr>
              <a:t>Check  role === "Tenant"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9888" y="237744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 — reject others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268833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6.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268833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B84B"/>
                </a:solidFill>
                <a:latin typeface="Segoe UI"/>
              </a:rPr>
              <a:t>Attach  Authorization: Bearer &lt;token&gt;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9440" y="3063240"/>
            <a:ext cx="4937760" cy="100584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31729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📦  Token 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34564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Flutter: flutter_secure_storage  |  iOS: Keychain  |  Android: Keystore
Never store JWT in plain SharedPreferences or AsyncStorage.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0" y="416052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0" y="42702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🌐  Every Request Must Include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040880" y="4553712"/>
            <a:ext cx="4754880" cy="475488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78040" y="4690872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Authorization: Bearer &lt;jwt_token&gt;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Content-Type: application/json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Accept: application/json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📱  SCREEN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Sign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Create a new Tenant account. phoneNumber is optional. No auth header required for this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2821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/auth/signup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38528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Create a new Tenant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5669280" cy="2468880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Request body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"fullName":    "Jane Wambui",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"email":       "jane@example.com",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"phoneNumber": "+254700000000"   // optional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200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{ "message": "Account created successfully" 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Errors</a:t>
            </a:r>
          </a:p>
          <a:p>
            <a:pPr algn="l"/>
            <a:r>
              <a:rPr sz="900" b="0" i="0">
                <a:solidFill>
                  <a:srgbClr val="F87171"/>
                </a:solidFill>
                <a:latin typeface="Segoe UI"/>
              </a:rPr>
              <a:t>409 — Email already in use</a:t>
            </a:r>
          </a:p>
          <a:p>
            <a:pPr algn="l"/>
            <a:r>
              <a:rPr sz="900" b="0" i="0">
                <a:solidFill>
                  <a:srgbClr val="F87171"/>
                </a:solidFill>
                <a:latin typeface="Segoe UI"/>
              </a:rPr>
              <a:t>400 — Validation error (missing required field)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5669280" cy="658368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36576" cy="658368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💡  On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9262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Navigate to Login screen. No JWT is returned from signup — the user must login via OTP to receive their token.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57200"/>
            <a:ext cx="2194560" cy="438912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35240" y="45720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8800" y="508000"/>
            <a:ext cx="209296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50292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0292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1500" y="996188"/>
            <a:ext cx="206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Segoe UI"/>
              </a:rPr>
              <a:t>StayHere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1500" y="1453388"/>
            <a:ext cx="206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EEAD4"/>
                </a:solidFill>
                <a:latin typeface="Segoe UI"/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1500" y="1837436"/>
            <a:ext cx="206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Create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1500" y="2111756"/>
            <a:ext cx="206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Join thousands finding their dream 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4652" y="2386076"/>
            <a:ext cx="19212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FULL NAME  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4652" y="2532380"/>
            <a:ext cx="1921256" cy="256032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7804" y="2559812"/>
            <a:ext cx="1774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Jane Wambui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4652" y="2861564"/>
            <a:ext cx="19212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EMAIL  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4652" y="3007868"/>
            <a:ext cx="1921256" cy="256032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7804" y="3035300"/>
            <a:ext cx="1774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jane@example.com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4652" y="3337052"/>
            <a:ext cx="19212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PHONE  (optional)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4652" y="3483356"/>
            <a:ext cx="1921256" cy="256032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67804" y="3510788"/>
            <a:ext cx="1774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+254 700 000 000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94652" y="3867404"/>
            <a:ext cx="1921256" cy="2926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4652" y="3903980"/>
            <a:ext cx="1921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E1E"/>
                </a:solidFill>
                <a:latin typeface="Segoe UI"/>
              </a:rPr>
              <a:t>Create Account 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1500" y="4214876"/>
            <a:ext cx="206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Already have an account?  Sign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📱  SCREEN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Login — 2-Step OTP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Passwordless auth. Email/phone → OTP code → JWT token.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/auth/login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Step 1 — Request OTP  (field names MUST be Pascal-case)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5669280" cy="1508760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Send ONE of these — Pascal-case required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"Email": "jane@example.com" }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OR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"PhoneNumber": "+254700000000" 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200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{ "message": "OTP sent to your email"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4845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/auth/verify-otp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58768"/>
            <a:ext cx="4892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Step 2 — Submit 6-digit OTP → receive 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5669280" cy="2103120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"Email": "jane@example.com", "Otp": "482916" 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200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  "token":      "eyJhbGci...",</a:t>
            </a:r>
          </a:p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  "role":       "Tenant",       // ⚠ reject if NOT Tenant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"userId":     "usr_abc123",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"customerId": "cust_xyz789"  // save this!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57200"/>
            <a:ext cx="2331720" cy="626364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12380" y="45720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7360" y="508000"/>
            <a:ext cx="22301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50292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0292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5780" y="767588"/>
            <a:ext cx="2113280" cy="201168"/>
          </a:xfrm>
          <a:prstGeom prst="roundRect">
            <a:avLst>
              <a:gd name="adj" fmla="val 20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060" y="785876"/>
            <a:ext cx="220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  <a:latin typeface="Segoe UI"/>
              </a:rPr>
              <a:t>STEP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060" y="1069340"/>
            <a:ext cx="220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  <a:latin typeface="Segoe UI"/>
              </a:rPr>
              <a:t>StayHere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060" y="1489964"/>
            <a:ext cx="220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Welcome Back 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060" y="1727708"/>
            <a:ext cx="220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Enter your email to continue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1500" y="2020316"/>
            <a:ext cx="202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EMAIL OR PHONE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21500" y="2184908"/>
            <a:ext cx="2021840" cy="27432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4652" y="2230628"/>
            <a:ext cx="187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jane@example.com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21500" y="2596387"/>
            <a:ext cx="2021840" cy="2926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0060" y="2642108"/>
            <a:ext cx="220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80E1E"/>
                </a:solidFill>
                <a:latin typeface="Segoe UI"/>
              </a:rPr>
              <a:t>Continue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060" y="3026156"/>
            <a:ext cx="220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New here?  Create account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457200"/>
            <a:ext cx="2331720" cy="626364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18420" y="45720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23400" y="508000"/>
            <a:ext cx="22301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50292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50292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81820" y="767588"/>
            <a:ext cx="2113280" cy="201168"/>
          </a:xfrm>
          <a:prstGeom prst="roundRect">
            <a:avLst>
              <a:gd name="adj" fmla="val 20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36100" y="785876"/>
            <a:ext cx="220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  <a:latin typeface="Segoe UI"/>
              </a:rPr>
              <a:t>STEP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100" y="1069340"/>
            <a:ext cx="220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227"/>
                </a:solidFill>
                <a:latin typeface="Segoe UI"/>
              </a:rPr>
              <a:t>StayHere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36100" y="1489964"/>
            <a:ext cx="220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100" y="1800860"/>
            <a:ext cx="220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Check your email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100" y="2056892"/>
            <a:ext cx="220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We sent a 6-digit code to
jane@example.com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2459228"/>
            <a:ext cx="274320" cy="310896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24866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Segoe UI"/>
              </a:rPr>
              <a:t>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21240" y="2459228"/>
            <a:ext cx="274320" cy="310896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1240" y="24866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Segoe UI"/>
              </a:rPr>
              <a:t>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0" y="2459228"/>
            <a:ext cx="274320" cy="310896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41280" y="24866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Segoe UI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2459228"/>
            <a:ext cx="274320" cy="310896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881360" y="2459228"/>
            <a:ext cx="274320" cy="310896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201400" y="2459228"/>
            <a:ext cx="274320" cy="310896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36100" y="2861564"/>
            <a:ext cx="220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Didn't get it?  Resend (58s)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27540" y="3099308"/>
            <a:ext cx="2021840" cy="2926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36100" y="3145028"/>
            <a:ext cx="220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80E1E"/>
                </a:solidFill>
                <a:latin typeface="Segoe UI"/>
              </a:rPr>
              <a:t>Verify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📱  SCREEN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Home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Load featured + available listings in parallel on mount. Images served from Cloudflare R2 CDN — no auth header for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/property/listings/featured?limit=6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Carousel of featured/promoted properties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299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66544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/property/listings/available?page=1&amp;pageSize=6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76856"/>
            <a:ext cx="5166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Recent available listings 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5943600" cy="2880360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5669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Listing response object (both endpoints)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"id":              "list_abc123",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"title":           "Modern 2BR, Westlands",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"primaryImageUrl": "https://pub-89...r2.dev/...",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"images":          ["https://..."],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"price":           45000,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"bedrooms":        2,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"bathrooms":       2,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"location":        "Westlands, Nairobi",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"listingType":     "Rent",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  "isFeatured":      true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76672"/>
            <a:ext cx="5943600" cy="658368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376672"/>
            <a:ext cx="36576" cy="658368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68112"/>
            <a:ext cx="571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💡  Image Loading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05856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Use primaryImageUrl for card thumbnail. Fall back to images[0]. R2 CDN URL — load directly as &lt;img src&gt;, no Bearer header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11480"/>
            <a:ext cx="43891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6000" y="462280"/>
            <a:ext cx="42875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78700" y="676148"/>
            <a:ext cx="42621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140" y="731012"/>
            <a:ext cx="389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StayHere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650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 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140" y="1060196"/>
            <a:ext cx="4079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  <a:latin typeface="Segoe UI"/>
              </a:rPr>
              <a:t>Kenya's #1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140" y="12430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Find Your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4580" y="12430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227"/>
                </a:solidFill>
                <a:latin typeface="Segoe UI"/>
              </a:rPr>
              <a:t>Perfect Home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0140" y="1654556"/>
            <a:ext cx="685800" cy="237744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140" y="169113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80E1E"/>
                </a:solidFill>
                <a:latin typeface="Segoe UI"/>
              </a:rPr>
              <a:t>Rent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092" y="1654556"/>
            <a:ext cx="685800" cy="237744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092" y="169113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Buy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044" y="1654556"/>
            <a:ext cx="685800" cy="237744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044" y="169113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AirBnB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70140" y="1983740"/>
            <a:ext cx="4079240" cy="310896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61580" y="2047748"/>
            <a:ext cx="334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688"/>
                </a:solidFill>
                <a:latin typeface="Segoe UI"/>
              </a:rPr>
              <a:t>🔍  Search city, area, amenity…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19028" y="2020316"/>
            <a:ext cx="530352" cy="237744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9028" y="203860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1426"/>
                </a:solidFill>
                <a:latin typeface="Segoe UI"/>
              </a:rPr>
              <a:t>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70140" y="2395220"/>
            <a:ext cx="978662" cy="475488"/>
          </a:xfrm>
          <a:prstGeom prst="roundRect">
            <a:avLst>
              <a:gd name="adj" fmla="val 6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0140" y="2431796"/>
            <a:ext cx="97866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0140" y="2669540"/>
            <a:ext cx="9786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899BB"/>
                </a:solidFill>
                <a:latin typeface="Segoe UI"/>
              </a:rPr>
              <a:t>Apt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666" y="2395220"/>
            <a:ext cx="978662" cy="475488"/>
          </a:xfrm>
          <a:prstGeom prst="roundRect">
            <a:avLst>
              <a:gd name="adj" fmla="val 6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666" y="2431796"/>
            <a:ext cx="97866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666" y="2669540"/>
            <a:ext cx="9786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899BB"/>
                </a:solidFill>
                <a:latin typeface="Segoe UI"/>
              </a:rPr>
              <a:t>House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37192" y="2395220"/>
            <a:ext cx="978662" cy="475488"/>
          </a:xfrm>
          <a:prstGeom prst="roundRect">
            <a:avLst>
              <a:gd name="adj" fmla="val 6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37192" y="2431796"/>
            <a:ext cx="97866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37192" y="2669540"/>
            <a:ext cx="9786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899BB"/>
                </a:solidFill>
                <a:latin typeface="Segoe UI"/>
              </a:rPr>
              <a:t>Studio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70718" y="2395220"/>
            <a:ext cx="978662" cy="475488"/>
          </a:xfrm>
          <a:prstGeom prst="roundRect">
            <a:avLst>
              <a:gd name="adj" fmla="val 6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70718" y="2431796"/>
            <a:ext cx="97866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70718" y="2669540"/>
            <a:ext cx="9786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8899BB"/>
                </a:solidFill>
                <a:latin typeface="Segoe UI"/>
              </a:rPr>
              <a:t>Villa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0140" y="2962148"/>
            <a:ext cx="407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⭐  Featured Properties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70140" y="3199892"/>
            <a:ext cx="4079240" cy="100584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70140" y="3199892"/>
            <a:ext cx="4079240" cy="502920"/>
          </a:xfrm>
          <a:prstGeom prst="roundRect">
            <a:avLst>
              <a:gd name="adj" fmla="val 8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01660" y="32730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88428" y="3492500"/>
            <a:ext cx="502920" cy="164592"/>
          </a:xfrm>
          <a:prstGeom prst="roundRect">
            <a:avLst>
              <a:gd name="adj" fmla="val 12000"/>
            </a:avLst>
          </a:prstGeom>
          <a:solidFill>
            <a:srgbClr val="0A2030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7572" y="3510788"/>
            <a:ext cx="47548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EEAD4"/>
                </a:solidFill>
                <a:latin typeface="Segoe UI"/>
              </a:rPr>
              <a:t>For Rent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292" y="3748532"/>
            <a:ext cx="39329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Modern 2BR, Westlands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292" y="3931412"/>
            <a:ext cx="3932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📍 Westlands, Nairobi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292" y="407771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KES 45,000/mo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860" y="4077716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🛏 2  🚿 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78700" y="6200140"/>
            <a:ext cx="4262120" cy="38404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8700" y="6273292"/>
            <a:ext cx="852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A227"/>
                </a:solidFill>
                <a:latin typeface="Segoe UI"/>
              </a:rPr>
              <a:t>🏠 Home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31124" y="6273292"/>
            <a:ext cx="852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🔍 Explore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83548" y="6273292"/>
            <a:ext cx="852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♡ Saved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35972" y="6273292"/>
            <a:ext cx="852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📋 Apply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8396" y="6273292"/>
            <a:ext cx="8524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👤 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📱  SCREEN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Explore /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Switch to POST search when any filter is active. Infinite scroll: increment page on end-of-list.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/property/listings/available?page=1&amp;pageSize=10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Default — no filters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299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6654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7685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Filtered/keyword search — fire when any filter applied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5852160" cy="2514600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55778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POST /property/listings/search — all fields optional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"query":       "2 bedroom Kilimani",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"listingType": "Rent",  // Rent | Buy | AirBnB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"minPrice":    20000,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"maxPrice":    80000,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"bedrooms":    2,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"county":      "Nairobi",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"page":        1,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"pageSize":    10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10912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383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47488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/staticdata/counties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57800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County list for filter dropdown — load once, cache locally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76672"/>
            <a:ext cx="5852160" cy="658368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376672"/>
            <a:ext cx="36576" cy="65836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68112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📌  Infinite Scroll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05856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Track currentPage in state. On scroll-to-end: increment page, append results to list. Reset to page 1 when filters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11480"/>
            <a:ext cx="457200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83120" y="462280"/>
            <a:ext cx="447040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95820" y="676148"/>
            <a:ext cx="444500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260" y="731012"/>
            <a:ext cx="407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Explore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650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⚙️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7260" y="1060196"/>
            <a:ext cx="3658616" cy="310896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8700" y="1124204"/>
            <a:ext cx="3347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688"/>
                </a:solidFill>
                <a:latin typeface="Segoe UI"/>
              </a:rPr>
              <a:t>🔍  2 bedroom Kilimani…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00740" y="1060196"/>
            <a:ext cx="548640" cy="310896"/>
          </a:xfrm>
          <a:prstGeom prst="roundRect">
            <a:avLst>
              <a:gd name="adj" fmla="val 8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19028" y="1124204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227"/>
                </a:solidFill>
                <a:latin typeface="Segoe UI"/>
              </a:rPr>
              <a:t>Filter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87260" y="1462532"/>
            <a:ext cx="658368" cy="237744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87260" y="14991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1426"/>
                </a:solidFill>
                <a:latin typeface="Segoe UI"/>
              </a:rPr>
              <a:t>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0492" y="1462532"/>
            <a:ext cx="658368" cy="237744"/>
          </a:xfrm>
          <a:prstGeom prst="roundRect">
            <a:avLst>
              <a:gd name="adj" fmla="val 2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0492" y="14991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Rent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13724" y="1462532"/>
            <a:ext cx="658368" cy="237744"/>
          </a:xfrm>
          <a:prstGeom prst="roundRect">
            <a:avLst>
              <a:gd name="adj" fmla="val 2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13724" y="14991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Buy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26956" y="1462532"/>
            <a:ext cx="658368" cy="237744"/>
          </a:xfrm>
          <a:prstGeom prst="roundRect">
            <a:avLst>
              <a:gd name="adj" fmla="val 2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26956" y="1499108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AirBnB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87260" y="1791716"/>
            <a:ext cx="426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128 Properties Found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87260" y="2047748"/>
            <a:ext cx="4262120" cy="86868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87260" y="2047748"/>
            <a:ext cx="4262120" cy="411480"/>
          </a:xfrm>
          <a:prstGeom prst="roundRect">
            <a:avLst>
              <a:gd name="adj" fmla="val 8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7340" y="20843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412" y="2504948"/>
            <a:ext cx="4115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Modern 2BR, Westlands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412" y="27061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KES 45,000/mo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17860" y="270611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🛏2 🚿2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87260" y="3007868"/>
            <a:ext cx="4262120" cy="86868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287260" y="3007868"/>
            <a:ext cx="4262120" cy="411480"/>
          </a:xfrm>
          <a:prstGeom prst="roundRect">
            <a:avLst>
              <a:gd name="adj" fmla="val 8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340" y="304444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412" y="3465068"/>
            <a:ext cx="41158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Spacious 3BR, Kilimani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412" y="36662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KES 70,000/mo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17860" y="366623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🛏3 🚿2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95820" y="6200140"/>
            <a:ext cx="4445000" cy="38404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95820" y="6273292"/>
            <a:ext cx="88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🏠 Home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84820" y="6273292"/>
            <a:ext cx="88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A227"/>
                </a:solidFill>
                <a:latin typeface="Segoe UI"/>
              </a:rPr>
              <a:t>🔍 Explore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73820" y="6273292"/>
            <a:ext cx="88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♡ Saved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62820" y="6273292"/>
            <a:ext cx="88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📋 Apply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51820" y="6273292"/>
            <a:ext cx="88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👤 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📱  SCREEN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Listing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Entry point to rental flow. Fire view-count on mount (fire-and-forget). Load AI similar listings.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/property/listings/{listingId}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Full listing data — images, amenities, terms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2996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6654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/property/listings/{listingId}/view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7685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Increment view count — fire once on mount, no body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9572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23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3230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/property/listings/{listingId}/rate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4261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Submit 1-5 star rating — body: { "rating": 5 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6148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889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9806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/aiagent/respondandrecommend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00837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Similar properties section — body: { "query": title, "maxResults": 4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46120"/>
            <a:ext cx="5852160" cy="658368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246120"/>
            <a:ext cx="36576" cy="658368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3756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🚀  Start Rental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75304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"Start Rental Process" button → navigate to Rental Flow with listingId. Require auth — redirect to Login if no token stored.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77639"/>
            <a:ext cx="5852160" cy="658368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3977639"/>
            <a:ext cx="36576" cy="658368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69079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🖼  Image Gallery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06823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Use primaryImageUrl for hero. Swipe through images[] array. Add heart/save icon. Pager dots for gallery position.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09160"/>
            <a:ext cx="5852160" cy="658368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4709160"/>
            <a:ext cx="36576" cy="658368"/>
          </a:xfrm>
          <a:prstGeom prst="roundRect">
            <a:avLst>
              <a:gd name="adj" fmla="val 10000"/>
            </a:avLst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⭐  Ratings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38344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Show aggregate rating from listing response. Allow users to submit a new rating. Disable submission if already rated.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411480"/>
            <a:ext cx="457200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8972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74560" y="462280"/>
            <a:ext cx="447040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260" y="676148"/>
            <a:ext cx="4445000" cy="1325880"/>
          </a:xfrm>
          <a:prstGeom prst="rect">
            <a:avLst/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9961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8700" y="78587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84788" y="78587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8700" y="17734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1 /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8700" y="2075180"/>
            <a:ext cx="4262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Modern 2BR Apartment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8700" y="2331212"/>
            <a:ext cx="426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📍 Westlands, Nairobi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8700" y="253238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Segoe UI"/>
              </a:rPr>
              <a:t>KES 45,000/mo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17860" y="2532380"/>
            <a:ext cx="822960" cy="219456"/>
          </a:xfrm>
          <a:prstGeom prst="roundRect">
            <a:avLst>
              <a:gd name="adj" fmla="val 15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17860" y="25506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4D399"/>
                </a:solidFill>
                <a:latin typeface="Segoe UI"/>
              </a:rPr>
              <a:t>Available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8700" y="284327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8700" y="295300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🛏  2 Bed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0300" y="284327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0300" y="295300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🚿  2 Bath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21900" y="284327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21900" y="295300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Segoe UI"/>
              </a:rPr>
              <a:t>📐  85 m²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78700" y="3391916"/>
            <a:ext cx="426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Modern finishes, open-plan kitchen, great natural light. Secure building 24hr security…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78700" y="3757676"/>
            <a:ext cx="1207008" cy="219456"/>
          </a:xfrm>
          <a:prstGeom prst="roundRect">
            <a:avLst>
              <a:gd name="adj" fmla="val 15000"/>
            </a:avLst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78700" y="3785108"/>
            <a:ext cx="12070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EEAD4"/>
                </a:solidFill>
                <a:latin typeface="Segoe UI"/>
              </a:rPr>
              <a:t>🌐 WiFi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04580" y="3757676"/>
            <a:ext cx="1207008" cy="219456"/>
          </a:xfrm>
          <a:prstGeom prst="roundRect">
            <a:avLst>
              <a:gd name="adj" fmla="val 15000"/>
            </a:avLst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04580" y="3785108"/>
            <a:ext cx="12070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EEAD4"/>
                </a:solidFill>
                <a:latin typeface="Segoe UI"/>
              </a:rPr>
              <a:t>🅿️ Parking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30460" y="3757676"/>
            <a:ext cx="1207008" cy="219456"/>
          </a:xfrm>
          <a:prstGeom prst="roundRect">
            <a:avLst>
              <a:gd name="adj" fmla="val 15000"/>
            </a:avLst>
          </a:prstGeom>
          <a:solidFill>
            <a:srgbClr val="061E1C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30460" y="3785108"/>
            <a:ext cx="12070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EEAD4"/>
                </a:solidFill>
                <a:latin typeface="Segoe UI"/>
              </a:rPr>
              <a:t>🛡 Security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8700" y="4068572"/>
            <a:ext cx="4262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⭐⭐⭐⭐☆  4.2  (18 reviews)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78700" y="4306316"/>
            <a:ext cx="4262120" cy="2926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87260" y="4352036"/>
            <a:ext cx="4445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6"/>
                </a:solidFill>
                <a:latin typeface="Segoe UI"/>
              </a:rPr>
              <a:t>Start Rental Process 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RENTAL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6-Step Rental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Each step corresponds to API calls that advance the application status. Steps are sequential.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874519" cy="1645920"/>
          </a:xfrm>
          <a:prstGeom prst="roundRect">
            <a:avLst>
              <a:gd name="adj" fmla="val 12000"/>
            </a:avLst>
          </a:prstGeom>
          <a:solidFill>
            <a:srgbClr val="1A1404"/>
          </a:solidFill>
          <a:ln w="1524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9011" y="1399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9011" y="14173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426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647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9A227"/>
                </a:solidFill>
                <a:latin typeface="Segoe UI"/>
              </a:rPr>
              <a:t>Book Viewing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03120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POST /property/bookings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7" y="227685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9" y="1600200"/>
            <a:ext cx="1874519" cy="1645920"/>
          </a:xfrm>
          <a:prstGeom prst="roundRect">
            <a:avLst>
              <a:gd name="adj" fmla="val 12000"/>
            </a:avLst>
          </a:prstGeom>
          <a:solidFill>
            <a:srgbClr val="041A18"/>
          </a:solidFill>
          <a:ln w="1524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4970" y="1399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4970" y="14173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426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17647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5EEAD4"/>
                </a:solidFill>
                <a:latin typeface="Segoe UI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1" y="2103120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POST /property/applications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6" y="227685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38" y="1600200"/>
            <a:ext cx="1874519" cy="1645920"/>
          </a:xfrm>
          <a:prstGeom prst="roundRect">
            <a:avLst>
              <a:gd name="adj" fmla="val 12000"/>
            </a:avLst>
          </a:prstGeom>
          <a:solidFill>
            <a:srgbClr val="06152A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70929" y="1399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0929" y="14173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426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8" y="17647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60A5FA"/>
                </a:solidFill>
                <a:latin typeface="Segoe UI"/>
              </a:rPr>
              <a:t>Upload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0" y="2103120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POST /upload/presigned-url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0" y="2359152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PUT to R2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0" y="2615184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PATCH /documents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5" y="227685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797" y="1600200"/>
            <a:ext cx="1874519" cy="1645920"/>
          </a:xfrm>
          <a:prstGeom prst="roundRect">
            <a:avLst>
              <a:gd name="adj" fmla="val 12000"/>
            </a:avLst>
          </a:prstGeom>
          <a:solidFill>
            <a:srgbClr val="18102A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6888" y="1399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6888" y="14173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426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7" y="17647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C4B5FD"/>
                </a:solidFill>
                <a:latin typeface="Segoe UI"/>
              </a:rPr>
              <a:t>Review Terms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49" y="2103120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GET /listings/{id}/terms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49" y="2359152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PATCH /accept-terms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4" y="227685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56" y="1600200"/>
            <a:ext cx="1874519" cy="1645920"/>
          </a:xfrm>
          <a:prstGeom prst="roundRect">
            <a:avLst>
              <a:gd name="adj" fmla="val 12000"/>
            </a:avLst>
          </a:prstGeom>
          <a:solidFill>
            <a:srgbClr val="2A0618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02847" y="1399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2847" y="14173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426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6" y="17647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472B6"/>
                </a:solidFill>
                <a:latin typeface="Segoe UI"/>
              </a:rPr>
              <a:t>Payment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08" y="2103120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POST /payment/initiate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08" y="2359152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GET /payment/status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3" y="2276856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Segoe U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15" y="1600200"/>
            <a:ext cx="1874519" cy="1645920"/>
          </a:xfrm>
          <a:prstGeom prst="roundRect">
            <a:avLst>
              <a:gd name="adj" fmla="val 12000"/>
            </a:avLst>
          </a:prstGeom>
          <a:solidFill>
            <a:srgbClr val="062A1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068806" y="1399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8806" y="141732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C1426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15" y="1764792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34D399"/>
                </a:solidFill>
                <a:latin typeface="Segoe UI"/>
              </a:rPr>
              <a:t>Welcome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05867" y="2103120"/>
            <a:ext cx="17282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GET /onboarding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520440"/>
            <a:ext cx="11521440" cy="50292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6027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Application Status Flow: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36484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  <a:latin typeface="Segoe UI"/>
              </a:rPr>
              <a:t>DocumentsPending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60" y="36484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→ UnderReview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36484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→ Approved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36484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227"/>
                </a:solidFill>
                <a:latin typeface="Segoe UI"/>
              </a:rPr>
              <a:t>→ TermsAccepted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6484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→ PaymentPending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36484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→ Active 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142232"/>
            <a:ext cx="3703320" cy="1261872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2920" y="4142232"/>
            <a:ext cx="36576" cy="1261872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2336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💾  Key IDs to Track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471416"/>
            <a:ext cx="3474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listingId (from listing)
bookingId (auto from Step 1)
applicationId (auto from Step 2)
customerId (from login)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0" y="4142232"/>
            <a:ext cx="3703320" cy="1261872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297680" y="4142232"/>
            <a:ext cx="36576" cy="1261872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34840" y="42336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▶️  Resume Logic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4840" y="4471416"/>
            <a:ext cx="3474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From My Applications, users can resume:
• DocumentsPending → Step 3
• Approved → Step 4
• TermsAccepted/PaymentPending → Step 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92440" y="4142232"/>
            <a:ext cx="3703320" cy="1261872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092440" y="4142232"/>
            <a:ext cx="36576" cy="1261872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42336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⚠️  Sequential Rule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0" y="4471416"/>
            <a:ext cx="34747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Steps must be completed in order. The API will reject out-of-order actions. Always pass applicationId to Steps 3–6.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STEP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Step 1 — Book a Viewing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User picks date, time and viewing type. Creates a viewing booking linked to the listing.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/property/bookings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Create a viewing appointment — requires Bearer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84832"/>
            <a:ext cx="5852160" cy="4032504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5577840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Request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"listingId":   "{{listingId}}",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"customerId":  "{{customerId}}",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"viewingDate": "2026-07-01",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"viewingTime": "10:00",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"viewingType": "InPerson"  // InPerson | Virtual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201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"bookingId":   "bk_def456",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  "status":      "Confirmed",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"viewingDate": "2026-07-01T10:00:00"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5852160" cy="6858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394960"/>
            <a:ext cx="36576" cy="685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💾  After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24144"/>
            <a:ext cx="5623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Store bookingId in state. Advance to Step 2 (Apply). Show confirmation card with date/time.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Rental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438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A1E04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38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227"/>
                </a:solidFill>
                <a:latin typeface="Segoe U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8700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62748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2748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068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21116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116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5436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79484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484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53804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37852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7852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172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39622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9622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4380" y="1288796"/>
            <a:ext cx="453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📅  Schedule Viewing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380" y="1544828"/>
            <a:ext cx="453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Modern 2BR, Westlands · KES 45,000/mo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380" y="1800860"/>
            <a:ext cx="4536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6688"/>
                </a:solidFill>
                <a:latin typeface="Segoe UI"/>
              </a:rPr>
              <a:t>VIEWING TYPE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04380" y="1965452"/>
            <a:ext cx="2240788" cy="310896"/>
          </a:xfrm>
          <a:prstGeom prst="roundRect">
            <a:avLst>
              <a:gd name="adj" fmla="val 8000"/>
            </a:avLst>
          </a:prstGeom>
          <a:solidFill>
            <a:srgbClr val="041A18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4380" y="2020316"/>
            <a:ext cx="22407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EEAD4"/>
                </a:solidFill>
                <a:latin typeface="Segoe UI"/>
              </a:rPr>
              <a:t>🏠  In-Person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00032" y="1965452"/>
            <a:ext cx="2240788" cy="310896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2020316"/>
            <a:ext cx="22407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Segoe UI"/>
              </a:rPr>
              <a:t>💻  Virtual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04380" y="2367788"/>
            <a:ext cx="4719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6688"/>
                </a:solidFill>
                <a:latin typeface="Segoe UI"/>
              </a:rPr>
              <a:t>SELECT DATE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4380" y="2532380"/>
            <a:ext cx="4536440" cy="749808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95820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5820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757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7757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9694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9694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61631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61631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83568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14665" y="2770124"/>
            <a:ext cx="559743" cy="20116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83568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1426"/>
                </a:solidFill>
                <a:latin typeface="Segoe UI"/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05505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05505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27442" y="2587244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556688"/>
                </a:solidFill>
                <a:latin typeface="Segoe UI"/>
              </a:rPr>
              <a:t>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7442" y="2788412"/>
            <a:ext cx="62193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04380" y="3373627"/>
            <a:ext cx="4719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6688"/>
                </a:solidFill>
                <a:latin typeface="Segoe UI"/>
              </a:rPr>
              <a:t>SELECT TIME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04380" y="3538220"/>
            <a:ext cx="1475570" cy="256032"/>
          </a:xfrm>
          <a:prstGeom prst="roundRect">
            <a:avLst>
              <a:gd name="adj" fmla="val 6000"/>
            </a:avLst>
          </a:prstGeom>
          <a:solidFill>
            <a:srgbClr val="1A1404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04380" y="3574796"/>
            <a:ext cx="147557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227"/>
                </a:solidFill>
                <a:latin typeface="Segoe UI"/>
              </a:rPr>
              <a:t>10:00 AM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34814" y="3538220"/>
            <a:ext cx="1475570" cy="256032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34814" y="3574796"/>
            <a:ext cx="147557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12:00 PM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65249" y="3538220"/>
            <a:ext cx="1475570" cy="256032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5249" y="3574796"/>
            <a:ext cx="147557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99BB"/>
                </a:solidFill>
                <a:latin typeface="Segoe UI"/>
              </a:rPr>
              <a:t>2:00 PM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04380" y="3940556"/>
            <a:ext cx="4536440" cy="2926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12940" y="3986276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6"/>
                </a:solidFill>
                <a:latin typeface="Segoe UI"/>
              </a:rPr>
              <a:t>Book Viewing 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STEP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Step 2 — Submit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Tenant formally applies with employment and income details. Requires bookingId from Step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Submit a formal rental application — requires Bearer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84832"/>
            <a:ext cx="5852160" cy="4032504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5577840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Request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"listingId":      "{{listingId}}",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"customerId":     "{{customerId}}",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"bookingId":      "{{bookingId}}",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"employmentType": "Employed",  // Employed|SelfEmployed|Unemployed|Student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"monthlyIncome":  120000,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"employer":       "Safaricom PLC"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201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"applicationId": "app_ghi012",</a:t>
            </a:r>
          </a:p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  "status":        "DocumentsPending"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5852160" cy="6858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394960"/>
            <a:ext cx="36576" cy="685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💾  Store applicationId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24144"/>
            <a:ext cx="5623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applicationId is required for ALL subsequent steps (3-6). Show success animation before advancing.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Rental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438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38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8700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62748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A1E04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2748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227"/>
                </a:solidFill>
                <a:latin typeface="Segoe U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068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21116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116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95436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79484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484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53804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37852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7852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172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39622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9622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04380" y="1297940"/>
            <a:ext cx="4536440" cy="566928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5820" y="1371092"/>
            <a:ext cx="435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Segoe UI"/>
              </a:rPr>
              <a:t>✅  Viewing Confirmed!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5820" y="1608836"/>
            <a:ext cx="435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Fri Jun 20  ·  10:00 AM  ·  In-Person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04380" y="1992884"/>
            <a:ext cx="453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Submit Application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04380" y="2303780"/>
            <a:ext cx="4536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EMPLOYMENT TYPE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04380" y="2468372"/>
            <a:ext cx="4536440" cy="27432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95820" y="2504948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Employed  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04380" y="2834132"/>
            <a:ext cx="4536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MONTHLY INCOME (KES)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4380" y="2998724"/>
            <a:ext cx="4536440" cy="27432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95820" y="3035300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120,000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4380" y="3364484"/>
            <a:ext cx="4536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56688"/>
                </a:solidFill>
                <a:latin typeface="Segoe UI"/>
              </a:rPr>
              <a:t>EMPLOYER / BUSINESS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04380" y="3529076"/>
            <a:ext cx="4536440" cy="27432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95820" y="356565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Safaricom PLC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04380" y="3986276"/>
            <a:ext cx="4536440" cy="292608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12940" y="4031996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6"/>
                </a:solidFill>
                <a:latin typeface="Segoe UI"/>
              </a:rPr>
              <a:t>Submit Application  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2940" y="4370324"/>
            <a:ext cx="471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  <a:latin typeface="Segoe UI"/>
              </a:rPr>
              <a:t>🔒  Your info is kept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STEP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Step 3 — Upload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Two-phase upload: presigned URL from API, then PUT directly to Cloudflare R2. Never POST files to the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/property/upload/presigned-url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Phase 1: get time-limited R2 upload URL — Bearer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48256"/>
            <a:ext cx="640080" cy="256032"/>
          </a:xfrm>
          <a:prstGeom prst="roundRect">
            <a:avLst>
              <a:gd name="adj" fmla="val 8000"/>
            </a:avLst>
          </a:prstGeom>
          <a:solidFill>
            <a:srgbClr val="18102A"/>
          </a:solidFill>
          <a:ln w="63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  <a:latin typeface="Segoe UI"/>
              </a:rPr>
              <a:t>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&lt;presigned uploadUrl&gt;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95144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Phase 2: PUT raw file bytes to R2 — SigV4 auth embedded in URL, no Bearer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32304"/>
            <a:ext cx="640080" cy="256032"/>
          </a:xfrm>
          <a:prstGeom prst="roundRect">
            <a:avLst>
              <a:gd name="adj" fmla="val 8000"/>
            </a:avLst>
          </a:prstGeom>
          <a:solidFill>
            <a:srgbClr val="2A1806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5973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  <a:latin typeface="Segoe UI"/>
              </a:rPr>
              <a:t>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6888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/property/applications/{id}/documents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Phase 3: submit collected publicUrls to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52928"/>
            <a:ext cx="5852160" cy="3264408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0088"/>
            <a:ext cx="5577840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Phase 1 Request — POST /property/upload/presigned-url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"folder": "applications/docs", "fileName": "id.pdf", "contentType": "application/pdf" }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Phase 1 Response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{ "uploadUrl":  "https://stayhere...r2.cloudflarestorage.com/...?X-Amz-Signature=...",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"publicUrl":  "https://pub-89021444cd6a4a81bacfa5c1dd0427ea.r2.dev/applications/docs/id.pdf",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"contentType": "application/pdf" 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Phase 2 — PUT to uploadUrl with EXACT Content-Type header</a:t>
            </a:r>
          </a:p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// ⚠  No Bearer token! SigV4 is embedded in uploadUrl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Phase 3 Request — PATCH /applications/{id}/documents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"idDocumentUrl": "https://pub-89...r2.dev/...",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"payslipUrls":   ["...", "...", "..."],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"bankStatementUrl": "...", "signatureUrl": "..."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94960"/>
            <a:ext cx="5852160" cy="6858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36576" cy="685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⚠️  Content-Type Must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24144"/>
            <a:ext cx="5623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Use EXACTLY the contentType from the presigned URL response when doing the PUT — not the file's MIME type independently. Mismatch = 403.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Rental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38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438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78700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62748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62748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7068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21116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A1E04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116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227"/>
                </a:solidFill>
                <a:latin typeface="Segoe U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95436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79484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9484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53804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37852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7852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12172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9622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9622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4380" y="1297940"/>
            <a:ext cx="453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Upload Documents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04380" y="1553972"/>
            <a:ext cx="453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Upload clear scans or photos of each document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04380" y="1810004"/>
            <a:ext cx="4536440" cy="548640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95820" y="19197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71308" y="1901444"/>
            <a:ext cx="371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Segoe UI"/>
              </a:rPr>
              <a:t>✓ ID / Passport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1308" y="2130044"/>
            <a:ext cx="3713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id_front.pdf  ·  1.2 MB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04380" y="2431796"/>
            <a:ext cx="4536440" cy="54864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5820" y="25415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71308" y="2523236"/>
            <a:ext cx="371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Payslips (3 months)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71308" y="2751836"/>
            <a:ext cx="3713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Tap to upload PDF or image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73892" y="2596388"/>
            <a:ext cx="530352" cy="237744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73892" y="2623820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1426"/>
                </a:solidFill>
                <a:latin typeface="Segoe UI"/>
              </a:rPr>
              <a:t>+ Add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104380" y="3053588"/>
            <a:ext cx="4536440" cy="54864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95820" y="31633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71308" y="3145028"/>
            <a:ext cx="3713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Bank Statement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71308" y="3373628"/>
            <a:ext cx="3713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Last 3 months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073892" y="3218180"/>
            <a:ext cx="530352" cy="237744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73892" y="32456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C1426"/>
                </a:solidFill>
                <a:latin typeface="Segoe UI"/>
              </a:rPr>
              <a:t>+ Add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04380" y="3675380"/>
            <a:ext cx="4536440" cy="548640"/>
          </a:xfrm>
          <a:prstGeom prst="roundRect">
            <a:avLst>
              <a:gd name="adj" fmla="val 8000"/>
            </a:avLst>
          </a:prstGeom>
          <a:solidFill>
            <a:srgbClr val="141003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04380" y="3839972"/>
            <a:ext cx="453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88"/>
                </a:solidFill>
                <a:latin typeface="Segoe UI"/>
              </a:rPr>
              <a:t>✍  Draw or upload your signature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04380" y="4297172"/>
            <a:ext cx="4536440" cy="292608"/>
          </a:xfrm>
          <a:prstGeom prst="roundRect">
            <a:avLst>
              <a:gd name="adj" fmla="val 8000"/>
            </a:avLst>
          </a:prstGeom>
          <a:solidFill>
            <a:srgbClr val="55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12940" y="4342892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1426"/>
                </a:solidFill>
                <a:latin typeface="Segoe UI"/>
              </a:rPr>
              <a:t>Submit Documents  (1 / 4 uploaded)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STEP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Step 4 — Review &amp; Accept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Only shown when applicationStatus === "Approved". Display lease terms, get acceptance.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/property/listings/{listingId}/terms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Fetch lease terms for display — Bearer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48256"/>
            <a:ext cx="640080" cy="256032"/>
          </a:xfrm>
          <a:prstGeom prst="roundRect">
            <a:avLst>
              <a:gd name="adj" fmla="val 8000"/>
            </a:avLst>
          </a:prstGeom>
          <a:solidFill>
            <a:srgbClr val="2A1806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  <a:latin typeface="Segoe UI"/>
              </a:rPr>
              <a:t>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/property/applications/{id}/accept-terms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95144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User accepts terms — no request body — Bearer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5852160" cy="3648456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06040"/>
            <a:ext cx="5577840" cy="3374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GET /listings/{id}/terms response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"termsId":             "terms_abc",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"rentAmount":          45000,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"depositAmount":       90000,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"leaseDurationMonths": 12,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"moveInDate":          "2026-07-01",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"termsContent":        "The tenant agrees to..."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PATCH accept-terms — no body needed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200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{ "status": "TermsAccepted" }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→ Advance to Step 5 (Payment)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60"/>
            <a:ext cx="5852160" cy="6858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394960"/>
            <a:ext cx="36576" cy="685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4864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⚠️  Status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24144"/>
            <a:ext cx="5623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Only show Step 4 if applicationStatus === "Approved". If "UnderReview" → show waiting screen. If "Rejected" → show rejection message.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Rental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0438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438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8700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62748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2748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37068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21116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116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95436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79484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A1E04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9484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227"/>
                </a:solidFill>
                <a:latin typeface="Segoe UI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53804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37852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37852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12172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39622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9622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04380" y="1297940"/>
            <a:ext cx="4536440" cy="420624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5820" y="1389380"/>
            <a:ext cx="435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✅  Application Approved! Review your lease terms below.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04380" y="1810004"/>
            <a:ext cx="2231644" cy="402336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04380" y="1828292"/>
            <a:ext cx="2231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9A227"/>
                </a:solidFill>
                <a:latin typeface="Segoe UI"/>
              </a:rPr>
              <a:t>KES 45K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4380" y="2047748"/>
            <a:ext cx="22316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Monthly Rent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90888" y="1810004"/>
            <a:ext cx="2231644" cy="402336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0888" y="1828292"/>
            <a:ext cx="2231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9A227"/>
                </a:solidFill>
                <a:latin typeface="Segoe UI"/>
              </a:rPr>
              <a:t>KES 90K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90888" y="2047748"/>
            <a:ext cx="22316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Deposit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04380" y="2285492"/>
            <a:ext cx="2231644" cy="402336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04380" y="2303780"/>
            <a:ext cx="2231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9A227"/>
                </a:solidFill>
                <a:latin typeface="Segoe UI"/>
              </a:rPr>
              <a:t>12 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04380" y="2523236"/>
            <a:ext cx="22316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Duration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90888" y="2285492"/>
            <a:ext cx="2231644" cy="402336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90888" y="2303780"/>
            <a:ext cx="22316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9A227"/>
                </a:solidFill>
                <a:latin typeface="Segoe UI"/>
              </a:rPr>
              <a:t>Jul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90888" y="2523236"/>
            <a:ext cx="22316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BB"/>
                </a:solidFill>
                <a:latin typeface="Segoe UI"/>
              </a:rPr>
              <a:t>Move-in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04380" y="2779268"/>
            <a:ext cx="4536440" cy="91440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77532" y="2852420"/>
            <a:ext cx="4390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"/>
              </a:rPr>
              <a:t>Lease Terms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7532" y="3053588"/>
            <a:ext cx="43901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The tenant agrees to pay rent on the 1st of each month. Late payments incur 5% penalty. Subletting requires written consent. No structural modifications…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04380" y="3785108"/>
            <a:ext cx="4536440" cy="310896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95820" y="3849116"/>
            <a:ext cx="201168" cy="201168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95820" y="384911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1426"/>
                </a:solidFill>
                <a:latin typeface="Segoe U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51852" y="3858260"/>
            <a:ext cx="4134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I have read and accept these terms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04380" y="4187444"/>
            <a:ext cx="4536440" cy="29260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12940" y="4233164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Accept Terms &amp; Continue 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STEP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Step 5 — M-Pesa Payment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STK Push to tenant phone. Poll every 4 seconds until Completed or Failed.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/property/applications/{id}/payment/initiate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Trigger M-Pesa STK Push — Bearer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48256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/property/applications/{id}/payment/status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95144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Poll every 4 seconds — stop when status !== "Pending"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32304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5973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68880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/property/applications/{id}/onboarding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679192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After payment Completed — fetch Step 6 welcome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52928"/>
            <a:ext cx="5852160" cy="3264408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90088"/>
            <a:ext cx="5577840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POST initiate — Request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"phoneNumber": "254712345678",  // no + prefix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"amount": 45000 }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{ "checkoutRequestId": "ws_CO_...", "message": "STK Push sent" 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GET /payment/status — poll every 4 seconds</a:t>
            </a:r>
          </a:p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{ "status": "Pending" | "Completed" | "Failed",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"mpesaReceiptNumber": "QJX0YK2345" 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Stop polling when status !== "Pending"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// On Completed → call /onboarding → advance to Step 6</a:t>
            </a:r>
          </a:p>
          <a:p>
            <a:pPr algn="l"/>
            <a:r>
              <a:rPr sz="900" b="0" i="0">
                <a:solidFill>
                  <a:srgbClr val="F87171"/>
                </a:solidFill>
                <a:latin typeface="Segoe UI"/>
              </a:rPr>
              <a:t>// On Failed → show retry button → re-call initiate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94960"/>
            <a:ext cx="5852160" cy="6858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36576" cy="685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📱  Phone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24144"/>
            <a:ext cx="5623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Convert 07XXXXXXXX → 2547XXXXXXXX before submitting. No + prefix. No spaces. Timeout after 30s — user did not approve prompt.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Rental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38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438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78700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62748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62748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7068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21116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116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95436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79484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9484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53804" y="1110488"/>
            <a:ext cx="27432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737852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A1E04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7852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227"/>
                </a:solidFill>
                <a:latin typeface="Segoe U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12172" y="1110488"/>
            <a:ext cx="274320" cy="27432"/>
          </a:xfrm>
          <a:prstGeom prst="rect">
            <a:avLst/>
          </a:prstGeom>
          <a:solidFill>
            <a:srgbClr val="1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396220" y="104190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96220" y="1060196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56688"/>
                </a:solidFill>
                <a:latin typeface="Segoe UI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4380" y="1297940"/>
            <a:ext cx="4536440" cy="100584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95820" y="1389380"/>
            <a:ext cx="435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Payment Summary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5820" y="160883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First Month Rent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34980" y="160883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KES 45,000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95820" y="18465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Security Deposit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34980" y="18465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KES 90,000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5820" y="2066036"/>
            <a:ext cx="4353560" cy="127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5820" y="21209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Total Due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69220" y="208432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Segoe UI"/>
              </a:rPr>
              <a:t>KES 135,000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04380" y="2395220"/>
            <a:ext cx="4536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6688"/>
                </a:solidFill>
                <a:latin typeface="Segoe UI"/>
              </a:rPr>
              <a:t>PAYMENT METHOD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04380" y="2559812"/>
            <a:ext cx="4536440" cy="420624"/>
          </a:xfrm>
          <a:prstGeom prst="roundRect">
            <a:avLst>
              <a:gd name="adj" fmla="val 8000"/>
            </a:avLst>
          </a:prstGeom>
          <a:solidFill>
            <a:srgbClr val="041A18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95820" y="26421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EEAD4"/>
                </a:solidFill>
                <a:latin typeface="Segoe UI"/>
              </a:rPr>
              <a:t>🟢  M-Pesa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95820" y="28067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  <a:latin typeface="Segoe UI"/>
              </a:rPr>
              <a:t>STK Push to your phone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66500" y="268782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EAD4"/>
                </a:solidFill>
                <a:latin typeface="Segoe U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04380" y="3071876"/>
            <a:ext cx="45364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6688"/>
                </a:solidFill>
                <a:latin typeface="Segoe UI"/>
              </a:rPr>
              <a:t>M-PESA PHONE NUMBER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04380" y="3236468"/>
            <a:ext cx="4536440" cy="27432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95820" y="3273044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254 712 345 678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04380" y="3602228"/>
            <a:ext cx="4536440" cy="292608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12940" y="3647948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Pay KES 135,000 via M-Pesa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12940" y="3986276"/>
            <a:ext cx="471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6688"/>
                </a:solidFill>
                <a:latin typeface="Segoe UI"/>
              </a:rPr>
              <a:t>📱  You will receive a prompt on your phone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🏘  STEP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Step 6 — Welcome Home!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Payment confirmed. Fetch onboarding info and celebrate — application is now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/property/applications/{id}/onboarding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Fetch move-in instructions after payment confirmed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84832"/>
            <a:ext cx="5852160" cy="4032504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2"/>
            <a:ext cx="5577840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"applicationId":    "app_ghi012",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  "status":           "Active",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"moveInDate":       "2026-07-01",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"propertyAddress":  "Unit 4B, Westlands Apts",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"accessInstructions": "Collect keys from caretaker...",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"emergencyContact": "+254720000001",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"leaseDocumentUrl": "https://pub-89...r2.dev/..."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// applicationStatus is now "Active"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Clear rental flow state after this screen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Offer "Download Lease" using leaseDocumentUrl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394960"/>
            <a:ext cx="5852160" cy="68580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394960"/>
            <a:ext cx="36576" cy="68580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🎉  After This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24144"/>
            <a:ext cx="5623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Navigate user to My Applications or Dashboard. Clear all rental flow state (listingId, bookingId, applicationId). Offer push notification opt-in.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2940" y="1041908"/>
            <a:ext cx="4719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Segoe UI"/>
              </a:rPr>
              <a:t>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2940" y="1590548"/>
            <a:ext cx="471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Welcome Home!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2940" y="1956308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Segoe UI"/>
              </a:rPr>
              <a:t>Your rental is confirmed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4380" y="2267204"/>
            <a:ext cx="4536440" cy="914400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5820" y="2340356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📋  Move-in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5820" y="25781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Address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8780" y="2578100"/>
            <a:ext cx="353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Unit 4B, Westlands Apts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5820" y="27975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Move-in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8780" y="2797556"/>
            <a:ext cx="353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July 1,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5820" y="30170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Receipt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8780" y="3017012"/>
            <a:ext cx="353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Segoe UI"/>
              </a:rPr>
              <a:t>QJX0YK2345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380" y="3254756"/>
            <a:ext cx="4536440" cy="64008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95820" y="3327908"/>
            <a:ext cx="4353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🔑  Access Instructions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5820" y="3529076"/>
            <a:ext cx="4353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Collect keys from caretaker (James — 0720000001) on move-in day 8am–5pm.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04380" y="3967988"/>
            <a:ext cx="4536440" cy="2743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12940" y="4004564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6"/>
                </a:solidFill>
                <a:latin typeface="Segoe UI"/>
              </a:rPr>
              <a:t>📄  Download Lease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04380" y="4315460"/>
            <a:ext cx="4536440" cy="27432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12940" y="4352035"/>
            <a:ext cx="4719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9BB"/>
                </a:solidFill>
                <a:latin typeface="Segoe UI"/>
              </a:rPr>
              <a:t>🏠  View My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📱  SCREEN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My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Track all rental applications. Resume in-progress ones. Status drives progress 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64208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2A1E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00784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/property/applications/customer/{customerId}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11096"/>
            <a:ext cx="5074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All applications for the logged-in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29968"/>
            <a:ext cx="5852160" cy="2423160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5577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— array of application objects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"applicationId": "app_ghi012",</a:t>
            </a:r>
          </a:p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  "status":        "UnderReview",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  "listing": {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  "title":          "Modern 2BR, Westlands",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  "price":          45000,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  "primaryImageUrl":"https://pub-89...r2.dev/..."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  },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"appliedAt": "2026-06-13T09:30:00Z"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26280"/>
            <a:ext cx="5852160" cy="164592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Status → Progress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28616"/>
            <a:ext cx="91440" cy="18288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92861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DocumentsPending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9286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Segoe UI"/>
              </a:rPr>
              <a:t>16%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76088"/>
            <a:ext cx="91440" cy="18288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52760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UnderReview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76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Segoe UI"/>
              </a:rPr>
              <a:t>33%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23560"/>
            <a:ext cx="91440" cy="1828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623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623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  <a:latin typeface="Segoe UI"/>
              </a:rPr>
              <a:t>50%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4928616"/>
            <a:ext cx="91440" cy="18288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492861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TermsAccepted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49286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227"/>
                </a:solidFill>
                <a:latin typeface="Segoe UI"/>
              </a:rPr>
              <a:t>66%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5276088"/>
            <a:ext cx="91440" cy="18288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9624" y="52760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PaymentPending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52760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923C"/>
                </a:solidFill>
                <a:latin typeface="Segoe UI"/>
              </a:rPr>
              <a:t>83%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5623560"/>
            <a:ext cx="91440" cy="1828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9624" y="5623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623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  <a:latin typeface="Segoe UI"/>
              </a:rPr>
              <a:t>100%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6245352"/>
            <a:ext cx="5852160" cy="50292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6245352"/>
            <a:ext cx="36576" cy="50292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336792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▶️  Show "Continue" Button For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574536"/>
            <a:ext cx="56235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DocumentsPending → go to Step 3
Approved → go to Step 4
TermsAccepted / PaymentPending → go to Step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My Applications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04380" y="1078484"/>
            <a:ext cx="4536440" cy="91440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195820" y="116992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5820" y="11699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0180" y="1169924"/>
            <a:ext cx="371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Modern 2BR, Westlands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180" y="137109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KES 45,000/mo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90180" y="1535684"/>
            <a:ext cx="1097280" cy="182880"/>
          </a:xfrm>
          <a:prstGeom prst="roundRect">
            <a:avLst>
              <a:gd name="adj" fmla="val 12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90180" y="1553972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Active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95820" y="1773428"/>
            <a:ext cx="4353560" cy="9144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95820" y="1773428"/>
            <a:ext cx="4353560" cy="9144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104380" y="2084324"/>
            <a:ext cx="4536440" cy="91440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195820" y="217576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95820" y="21757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90180" y="2175764"/>
            <a:ext cx="371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Spacious 3BR, Kilimani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90180" y="237693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KES 70,000/mo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90180" y="2541524"/>
            <a:ext cx="1097280" cy="182880"/>
          </a:xfrm>
          <a:prstGeom prst="roundRect">
            <a:avLst>
              <a:gd name="adj" fmla="val 12000"/>
            </a:avLst>
          </a:prstGeom>
          <a:solidFill>
            <a:srgbClr val="2A1806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90180" y="2559812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923C"/>
                </a:solidFill>
                <a:latin typeface="Segoe UI"/>
              </a:rPr>
              <a:t>Under Review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95820" y="2779268"/>
            <a:ext cx="4353560" cy="9144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195820" y="2779268"/>
            <a:ext cx="1436674" cy="9144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04380" y="3090164"/>
            <a:ext cx="4536440" cy="91440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95820" y="3181604"/>
            <a:ext cx="502920" cy="502920"/>
          </a:xfrm>
          <a:prstGeom prst="roundRect">
            <a:avLst>
              <a:gd name="adj" fmla="val 5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95820" y="31816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0180" y="3181604"/>
            <a:ext cx="3713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Beach Villa, Nyali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90180" y="338277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KES 120,000/mo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90180" y="3547364"/>
            <a:ext cx="1097280" cy="182880"/>
          </a:xfrm>
          <a:prstGeom prst="roundRect">
            <a:avLst>
              <a:gd name="adj" fmla="val 12000"/>
            </a:avLst>
          </a:prstGeom>
          <a:solidFill>
            <a:srgbClr val="1A1404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90180" y="3565652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  <a:latin typeface="Segoe UI"/>
              </a:rPr>
              <a:t>Docs Pending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95820" y="3785108"/>
            <a:ext cx="4353560" cy="91440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195820" y="3785108"/>
            <a:ext cx="696569" cy="9144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17860" y="3492500"/>
            <a:ext cx="777240" cy="219456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17860" y="351993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C1426"/>
                </a:solidFill>
                <a:latin typeface="Segoe UI"/>
              </a:rPr>
              <a:t>Continue 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12940" y="6200140"/>
            <a:ext cx="4719320" cy="38404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12940" y="6273292"/>
            <a:ext cx="943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🏠 Home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6804" y="6273292"/>
            <a:ext cx="943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🔍 Explore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00668" y="6273292"/>
            <a:ext cx="943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♡ Saved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44532" y="6273292"/>
            <a:ext cx="943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9A227"/>
                </a:solidFill>
                <a:latin typeface="Segoe UI"/>
              </a:rPr>
              <a:t>📋 Apply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8396" y="6273292"/>
            <a:ext cx="9438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88"/>
                </a:solidFill>
                <a:latin typeface="Segoe UI"/>
              </a:rPr>
              <a:t>👤 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🤖  SCREEN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Sage AI — Two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Mode 1: Respond &amp; Recommend (primary). Mode 2: Chat with Sage (secondary).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852160" cy="2240280"/>
          </a:xfrm>
          <a:prstGeom prst="roundRect">
            <a:avLst>
              <a:gd name="adj" fmla="val 10000"/>
            </a:avLst>
          </a:prstGeom>
          <a:solidFill>
            <a:srgbClr val="141003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Segoe UI"/>
              </a:rPr>
              <a:t>① Respond &amp; Recommend  (Primary — first tab)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01952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38528"/>
            <a:ext cx="4800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/aiagent/respondandrecommend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48840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AI text response + ranked listing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31136"/>
            <a:ext cx="5577840" cy="1426464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68296"/>
            <a:ext cx="53035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Request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"query": "2 bedroom under 100k in westlands",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"conversationId": null,  // pass returned ID on follow-ups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"maxResults": 5, "temperature": 0.7 }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// Response  (status "000" = success)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{ "status": "000", "message": "Nairobi vibrant...",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  "data": { "recommendedListings": [{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  "listingId": "494e87...", "listingCode": "L1001",</a:t>
            </a:r>
          </a:p>
          <a:p>
            <a:pPr algn="l"/>
            <a:r>
              <a:rPr sz="900" b="0" i="0">
                <a:solidFill>
                  <a:srgbClr val="5EEAD4"/>
                </a:solidFill>
                <a:latin typeface="Segoe UI"/>
              </a:rPr>
              <a:t>    "title": "2BR apartment", "location": "Kasarani",</a:t>
            </a:r>
          </a:p>
          <a:p>
            <a:pPr algn="l"/>
            <a:r>
              <a:rPr sz="900" b="0" i="0">
                <a:solidFill>
                  <a:srgbClr val="60A5FA"/>
                </a:solidFill>
                <a:latin typeface="Segoe UI"/>
              </a:rPr>
              <a:t>    "price": 85000, "matchScore": 0.65,</a:t>
            </a:r>
          </a:p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    "amenities": ["Parking","Balcony"] }],</a:t>
            </a:r>
          </a:p>
          <a:p>
            <a:pPr algn="l"/>
            <a:r>
              <a:rPr sz="900" b="0" i="0">
                <a:solidFill>
                  <a:srgbClr val="FB923C"/>
                </a:solidFill>
                <a:latin typeface="Segoe UI"/>
              </a:rPr>
              <a:t>  "conversationId": "584119fa-...",  // store &amp; send on next query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"confidence": 0.65, "usedVectorSearch": false }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22191"/>
            <a:ext cx="5852160" cy="1325880"/>
          </a:xfrm>
          <a:prstGeom prst="roundRect">
            <a:avLst>
              <a:gd name="adj" fmla="val 10000"/>
            </a:avLst>
          </a:prstGeom>
          <a:solidFill>
            <a:srgbClr val="04141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136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  <a:latin typeface="Segoe UI"/>
              </a:rPr>
              <a:t>② Chat with Sage  (Secondary — second tab)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06240"/>
            <a:ext cx="640080" cy="256032"/>
          </a:xfrm>
          <a:prstGeom prst="roundRect">
            <a:avLst>
              <a:gd name="adj" fmla="val 8000"/>
            </a:avLst>
          </a:prstGeom>
          <a:solidFill>
            <a:srgbClr val="06152A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42816"/>
            <a:ext cx="4800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Segoe UI"/>
              </a:rPr>
              <a:t>/aiagent/chat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53128"/>
            <a:ext cx="4800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BB"/>
                </a:solidFill>
                <a:latin typeface="Segoe UI"/>
              </a:rPr>
              <a:t>Conversational AI — maintains context via conversationHistory[]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17136"/>
            <a:ext cx="5577840" cy="566928"/>
          </a:xfrm>
          <a:prstGeom prst="roundRect">
            <a:avLst>
              <a:gd name="adj" fmla="val 12000"/>
            </a:avLst>
          </a:prstGeom>
          <a:solidFill>
            <a:srgbClr val="050A18"/>
          </a:solidFill>
          <a:ln w="9525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542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B84B"/>
                </a:solidFill>
                <a:latin typeface="Segoe UI"/>
              </a:rPr>
              <a:t>{ "message": "What areas are good for families?",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Segoe UI"/>
              </a:rPr>
              <a:t>  "conversationHistory": [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  { "role": "user",      "content": "..." },</a:t>
            </a:r>
          </a:p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    { "role": "assistant", "content": "..." } ] }</a:t>
            </a:r>
          </a:p>
          <a:p>
            <a:pPr algn="l"/>
            <a:r>
              <a:rPr sz="900" b="0" i="0">
                <a:solidFill>
                  <a:srgbClr val="34D399"/>
                </a:solidFill>
                <a:latin typeface="Segoe UI"/>
              </a:rPr>
              <a:t>// Response: { "reply": "...", "listings": [...] 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12080"/>
            <a:ext cx="5852160" cy="59436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36576" cy="59436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03520"/>
            <a:ext cx="5623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💡  UX: conversationId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41264"/>
            <a:ext cx="562356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After first Respond &amp; Recommend call, store conversationId. Pass it in all follow-up queries to maintain AI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411480"/>
            <a:ext cx="4846320" cy="6309360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 w="254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411480"/>
            <a:ext cx="640080" cy="164592"/>
          </a:xfrm>
          <a:prstGeom prst="roundRect">
            <a:avLst>
              <a:gd name="adj" fmla="val 30000"/>
            </a:avLst>
          </a:prstGeom>
          <a:solidFill>
            <a:srgbClr val="111827"/>
          </a:solidFill>
          <a:ln w="635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0240" y="462280"/>
            <a:ext cx="4744720" cy="201168"/>
          </a:xfrm>
          <a:prstGeom prst="rect">
            <a:avLst/>
          </a:prstGeom>
          <a:solidFill>
            <a:srgbClr val="0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457200"/>
            <a:ext cx="4572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9:41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457200"/>
            <a:ext cx="502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6688"/>
                </a:solidFill>
                <a:latin typeface="Segoe UI"/>
              </a:rPr>
              <a:t>◼◼◼ 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12940" y="676148"/>
            <a:ext cx="4719320" cy="292608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04380" y="731012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Sage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57940" y="7310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● Online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6092" y="1023620"/>
            <a:ext cx="4573016" cy="292608"/>
          </a:xfrm>
          <a:prstGeom prst="roundRect">
            <a:avLst>
              <a:gd name="adj" fmla="val 8000"/>
            </a:avLst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04380" y="1041908"/>
            <a:ext cx="2268220" cy="256032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04380" y="1069340"/>
            <a:ext cx="22682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C1426"/>
                </a:solidFill>
                <a:latin typeface="Segoe UI"/>
              </a:rPr>
              <a:t>🔍  Recommend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1087628"/>
            <a:ext cx="22682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9BB"/>
                </a:solidFill>
                <a:latin typeface="Segoe UI"/>
              </a:rPr>
              <a:t>💬  Chat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04380" y="1407668"/>
            <a:ext cx="4536440" cy="310896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5820" y="1471676"/>
            <a:ext cx="4353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🔍  2 bedroom under 100k in westlands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04380" y="1810004"/>
            <a:ext cx="4536440" cy="594360"/>
          </a:xfrm>
          <a:prstGeom prst="roundRect">
            <a:avLst>
              <a:gd name="adj" fmla="val 8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7532" y="1874012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5EEAD4"/>
                </a:solidFill>
                <a:latin typeface="Segoe UI"/>
              </a:rPr>
              <a:t>SAGE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7532" y="2029460"/>
            <a:ext cx="4390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Nairobi's vibrant atmosphere offers great options. Kasarani provides convenient city access. Tap L1001 to view details.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380" y="2504948"/>
            <a:ext cx="4536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6688"/>
                </a:solidFill>
                <a:latin typeface="Segoe UI"/>
              </a:rPr>
              <a:t>BEST MATCHES  ·  1 result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04380" y="2706116"/>
            <a:ext cx="4536440" cy="868680"/>
          </a:xfrm>
          <a:prstGeom prst="roundRect">
            <a:avLst>
              <a:gd name="adj" fmla="val 8000"/>
            </a:avLst>
          </a:prstGeom>
          <a:solidFill>
            <a:srgbClr val="1A2535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104380" y="2706116"/>
            <a:ext cx="4536440" cy="411480"/>
          </a:xfrm>
          <a:prstGeom prst="roundRect">
            <a:avLst>
              <a:gd name="adj" fmla="val 8000"/>
            </a:avLst>
          </a:prstGeom>
          <a:solidFill>
            <a:srgbClr val="10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44460" y="27426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26420" y="2760980"/>
            <a:ext cx="868680" cy="201168"/>
          </a:xfrm>
          <a:prstGeom prst="roundRect">
            <a:avLst>
              <a:gd name="adj" fmla="val 15000"/>
            </a:avLst>
          </a:prstGeom>
          <a:solidFill>
            <a:srgbClr val="1A1404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6420" y="2779268"/>
            <a:ext cx="868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9A227"/>
                </a:solidFill>
                <a:latin typeface="Segoe UI"/>
              </a:rPr>
              <a:t>65% match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22668" y="2943860"/>
            <a:ext cx="457200" cy="164592"/>
          </a:xfrm>
          <a:prstGeom prst="roundRect">
            <a:avLst>
              <a:gd name="adj" fmla="val 5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2668" y="2962148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8899BB"/>
                </a:solidFill>
                <a:latin typeface="Segoe UI"/>
              </a:rPr>
              <a:t>L1001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7532" y="3163316"/>
            <a:ext cx="4390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2BR Apartment · Kasarani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7532" y="33644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KES 85,000/mo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23500" y="3364484"/>
            <a:ext cx="640080" cy="182880"/>
          </a:xfrm>
          <a:prstGeom prst="roundRect">
            <a:avLst>
              <a:gd name="adj" fmla="val 10000"/>
            </a:avLst>
          </a:prstGeom>
          <a:solidFill>
            <a:srgbClr val="041A18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23500" y="3382772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EEAD4"/>
                </a:solidFill>
                <a:latin typeface="Segoe UI"/>
              </a:rPr>
              <a:t>Parking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36732" y="3364484"/>
            <a:ext cx="640080" cy="182880"/>
          </a:xfrm>
          <a:prstGeom prst="roundRect">
            <a:avLst>
              <a:gd name="adj" fmla="val 10000"/>
            </a:avLst>
          </a:prstGeom>
          <a:solidFill>
            <a:srgbClr val="041A18"/>
          </a:solidFill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36732" y="3382772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EEAD4"/>
                </a:solidFill>
                <a:latin typeface="Segoe UI"/>
              </a:rPr>
              <a:t>Balcony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04380" y="3657092"/>
            <a:ext cx="2901137" cy="27432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04380" y="3684524"/>
            <a:ext cx="290113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C1426"/>
                </a:solidFill>
                <a:latin typeface="Segoe UI"/>
              </a:rPr>
              <a:t>View Listing  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78669" y="3657092"/>
            <a:ext cx="1428252" cy="274320"/>
          </a:xfrm>
          <a:prstGeom prst="roundRect">
            <a:avLst>
              <a:gd name="adj" fmla="val 6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78669" y="3684524"/>
            <a:ext cx="14282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Segoe UI"/>
              </a:rPr>
              <a:t>Refine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12940" y="6136132"/>
            <a:ext cx="4719320" cy="457200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104380" y="6218428"/>
            <a:ext cx="4097528" cy="292608"/>
          </a:xfrm>
          <a:prstGeom prst="roundRect">
            <a:avLst>
              <a:gd name="adj" fmla="val 2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95820" y="6264148"/>
            <a:ext cx="389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88"/>
                </a:solidFill>
                <a:latin typeface="Segoe UI"/>
              </a:rPr>
              <a:t>Describe what you're looking for…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275060" y="6218428"/>
            <a:ext cx="329184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75060" y="622757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C1426"/>
                </a:solidFill>
                <a:latin typeface="Segoe UI"/>
              </a:rPr>
              <a:t>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📋 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Full API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Segoe UI"/>
              </a:rPr>
              <a:t>Base URL: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618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Segoe UI"/>
              </a:rPr>
              <a:t>https://apim-dev-5c27bcf3.azure-api.net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11430000" cy="292608"/>
          </a:xfrm>
          <a:prstGeom prst="roundRect">
            <a:avLst>
              <a:gd name="adj" fmla="val 6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184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6184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Screen /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184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47088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1874520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83664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188366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/auth/signup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188366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Sign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1874520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188366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923C"/>
                </a:solidFill>
                <a:latin typeface="Segoe UI"/>
              </a:rPr>
              <a:t>Pre-auth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71116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2098548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10769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210769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/auth/login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2107692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Login Step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2098548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210769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923C"/>
                </a:solidFill>
                <a:latin typeface="Segoe UI"/>
              </a:rPr>
              <a:t>Pre-auth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95144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0352" y="2322576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23317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233172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/auth/verify-otp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233172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Login Step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2322576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233172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B923C"/>
                </a:solidFill>
                <a:latin typeface="Segoe UI"/>
              </a:rPr>
              <a:t>Pre-auth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519172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0352" y="2546604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555748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7008" y="2555748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/property/listings/featured?limit=6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2555748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Home Screen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8" y="2546604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10928" y="255574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743200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0352" y="2770632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2779776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008" y="277977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/property/listings/available?page=1&amp;pageSize=10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2779776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Home / Explore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10928" y="2770632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0928" y="277977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967228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30352" y="2994660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3003804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7008" y="300380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6128" y="300380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Explore — filtered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10928" y="2994660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10928" y="300380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191256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30352" y="3218688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322783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07008" y="322783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/property/listings/{listingId}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96128" y="3227832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Listing Detail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10928" y="3218688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10928" y="322783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415284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30352" y="3442716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345186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008" y="345186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/property/listings/{listingId}/view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96128" y="345186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Listing Detail — view count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710928" y="3442716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10928" y="345186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639312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30352" y="3666744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3675888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07008" y="3675888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/property/listings/{listingId}/rate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96128" y="3675888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Listing Detail — rating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10928" y="3666744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10928" y="367588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863340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30352" y="3890772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0352" y="3899916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07008" y="389991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/staticdata/counties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96128" y="3899916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Explore Filters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710928" y="3890772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10928" y="389991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087368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30352" y="4114800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0352" y="4123944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07008" y="412394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/property/bookings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96128" y="412394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710928" y="4114800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10928" y="412394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4311396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30352" y="4338828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0352" y="434797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07008" y="434797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96128" y="4347972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710928" y="4338828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10928" y="434797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535424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30352" y="4562856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0352" y="457200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07008" y="457200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/property/upload/presigned-url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96128" y="457200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3 Phase 1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710928" y="4562856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10928" y="457200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4759452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30352" y="4786884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0352" y="4796028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4B5FD"/>
                </a:solidFill>
                <a:latin typeface="Segoe UI"/>
              </a:rPr>
              <a:t>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07008" y="4796028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&lt;presigned R2 uploadUrl&gt;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96128" y="4796028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3 Phase 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710928" y="4786884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0928" y="479602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EEAD4"/>
                </a:solidFill>
                <a:latin typeface="Segoe UI"/>
              </a:rPr>
              <a:t>SigV4*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4983480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30352" y="5010912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0352" y="5020056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B923C"/>
                </a:solidFill>
                <a:latin typeface="Segoe UI"/>
              </a:rPr>
              <a:t>PATCH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07008" y="502005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/property/applications/{id}/documents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96128" y="5020056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3 Phase 3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710928" y="5010912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10928" y="502005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207508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530352" y="5234940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0352" y="5244084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07008" y="524408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/property/listings/{listingId}/terms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596128" y="524408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4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10928" y="5234940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10928" y="52440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5431536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530352" y="5458968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352" y="546811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B923C"/>
                </a:solidFill>
                <a:latin typeface="Segoe UI"/>
              </a:rPr>
              <a:t>PATCH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07008" y="546811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/property/applications/{id}/accept-terms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596128" y="5468112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4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710928" y="5458968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10928" y="546811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7200" y="5655564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530352" y="5682996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0352" y="569214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07008" y="569214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/property/applications/{id}/payment/initiate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596128" y="569214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5 — M-Pesa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710928" y="5682996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10928" y="569214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57200" y="5879592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530352" y="5907024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0352" y="5916168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07008" y="5916168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/property/applications/{id}/payment/status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596128" y="5916168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5 — poll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710928" y="5907024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710928" y="591616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57200" y="6103620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30352" y="6131052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0352" y="6140196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07008" y="6140196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/property/applications/{id}/onboarding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96128" y="6140196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Rental Flow Step 6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710928" y="6131052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710928" y="614019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6327648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530352" y="6355080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0352" y="6364224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207008" y="6364224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/property/applications/customer/{customerId}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96128" y="636422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My Applications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710928" y="6355080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710928" y="636422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57200" y="6551676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530352" y="6579108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30352" y="658825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Segoe UI"/>
              </a:rPr>
              <a:t>GET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207008" y="6588252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/customers/{customerId}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96128" y="6588252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Customer Profile / Dashboard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710928" y="6579108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710928" y="658825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7200" y="6775704"/>
            <a:ext cx="11430000" cy="2240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530352" y="6803136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30352" y="681228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07008" y="6812280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/aiagent/respondandrecommend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596128" y="681228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AI — Respond &amp; Recommend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710928" y="6803136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710928" y="681228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57200" y="6999732"/>
            <a:ext cx="11430000" cy="224028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530352" y="7027164"/>
            <a:ext cx="54864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30352" y="7036308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0A5FA"/>
                </a:solidFill>
                <a:latin typeface="Segoe UI"/>
              </a:rPr>
              <a:t>POST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07008" y="7036308"/>
            <a:ext cx="4297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DFF"/>
                </a:solidFill>
                <a:latin typeface="Segoe UI"/>
              </a:rPr>
              <a:t>/aiagent/chat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596128" y="7036308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BB"/>
                </a:solidFill>
                <a:latin typeface="Segoe UI"/>
              </a:rPr>
              <a:t>AI — Chat with Sage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710928" y="7027164"/>
            <a:ext cx="685800" cy="164592"/>
          </a:xfrm>
          <a:prstGeom prst="roundRect">
            <a:avLst>
              <a:gd name="adj" fmla="val 5000"/>
            </a:avLst>
          </a:prstGeom>
          <a:solidFill>
            <a:srgbClr val="06122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710928" y="703630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4D399"/>
                </a:solidFill>
                <a:latin typeface="Segoe UI"/>
              </a:rPr>
              <a:t>Bearer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57200" y="727862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688"/>
                </a:solidFill>
                <a:latin typeface="Segoe UI"/>
              </a:rPr>
              <a:t>* SigV4 — AWS Signature v4 embedded in presigned URL. Do NOT add Authorization: Bearer header for R2 PUT uploads.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⚠️ 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Business Rules — Must Implement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These rules are enforced by the API. Violating them causes errors or data corruption.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2A0606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70992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Segoe UI"/>
              </a:rPr>
              <a:t>Tenant-Only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0253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After verify-otp, check role === "Tenant". Block Admin, PropertyOwner, PropertyManager with an error screen. Do not store their JWT.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160020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2A1806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9652" y="170992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2844" y="170992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  <a:latin typeface="Segoe UI"/>
              </a:rPr>
              <a:t>Sequential Rental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9652" y="200253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Steps must be completed in order: Booking → Application → Docs → Terms → Payment. API rejects out-of-order 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06152A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072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80720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Segoe UI"/>
              </a:rPr>
              <a:t>R2 Upload Content-Type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981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The PUT to R2 MUST use the exact contentType returned in the presigned URL response. A mismatch causes 403 (SigV4 includes Content-Type in signature).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269748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18102A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9652" y="280720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2844" y="280720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Segoe UI"/>
              </a:rPr>
              <a:t>M-Pesa Phone Format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9652" y="309981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Phone must be 254XXXXXXXXX — no + prefix, no spaces. Convert: 07XXXXXXXX → 2547XXXXXXXX before submitting the payment request.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6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041418"/>
          </a:solidFill>
          <a:ln w="9525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044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90448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EAD4"/>
                </a:solidFill>
                <a:latin typeface="Segoe UI"/>
              </a:rPr>
              <a:t>Payment Polling — 4s Interval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9709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Poll /payment/status every 4 seconds after STK Push. Stop when status is Completed or Failed. Show spinner + "Check M-Pesa on your phone".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492" y="379476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9652" y="39044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2844" y="390448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Segoe UI"/>
              </a:rPr>
              <a:t>Pascal-Case Auth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419709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Login and verify-otp fields MUST be Pascal-case: "Email", "PhoneNumber", "Otp". Lowercase silently fails — API returns unexpected 400.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89204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062A1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0176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00176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Segoe UI"/>
              </a:rPr>
              <a:t>Resume Applications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9437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Check for existing in-progress applications before starting a new one for the same listing. Prompt user to continue or abandon existing application.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2492" y="489204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2A0618"/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9652" y="500176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"/>
              </a:rPr>
              <a:t>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2844" y="5001768"/>
            <a:ext cx="47960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  <a:latin typeface="Segoe UI"/>
              </a:rPr>
              <a:t>Image Loading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9652" y="529437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Segoe UI"/>
              </a:rPr>
              <a:t>R2 CDN images need no auth headers. Use primaryImageUrl, fallback to images[0]. Same URL = same file — safe to cache by URL.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743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A1404"/>
          </a:solidFill>
          <a:ln w="9525">
            <a:solidFill>
              <a:srgbClr val="5544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10896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Segoe UI"/>
              </a:rPr>
              <a:t>🛡 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Common Errors &amp; How to Handle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Segoe UI"/>
              </a:rPr>
              <a:t>Standard HTTP codes. Map to user-friendly messages. Never expose raw error objects to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2A0606"/>
          </a:solidFill>
          <a:ln w="9525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691640"/>
            <a:ext cx="5234940" cy="256032"/>
          </a:xfrm>
          <a:prstGeom prst="roundRect">
            <a:avLst>
              <a:gd name="adj" fmla="val 6000"/>
            </a:avLst>
          </a:prstGeom>
          <a:solidFill>
            <a:srgbClr val="060914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28216"/>
            <a:ext cx="51252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Segoe UI"/>
              </a:rPr>
              <a:t>401 Unauthorized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0253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Token expired or missing. Clear stored token → redirect to Login. Implement token validity check on app resume.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492" y="160020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2A1806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32220" y="1691640"/>
            <a:ext cx="5234940" cy="256032"/>
          </a:xfrm>
          <a:prstGeom prst="roundRect">
            <a:avLst>
              <a:gd name="adj" fmla="val 6000"/>
            </a:avLst>
          </a:prstGeom>
          <a:solidFill>
            <a:srgbClr val="060914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1728216"/>
            <a:ext cx="51252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Segoe UI"/>
              </a:rPr>
              <a:t>400 Bad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9652" y="200253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Validation error — missing field or wrong format. Most common: lowercase auth field names or missing bookingId. Show the API error message body.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9748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18102A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788920"/>
            <a:ext cx="5234940" cy="256032"/>
          </a:xfrm>
          <a:prstGeom prst="roundRect">
            <a:avLst>
              <a:gd name="adj" fmla="val 6000"/>
            </a:avLst>
          </a:prstGeom>
          <a:solidFill>
            <a:srgbClr val="060914"/>
          </a:solidFill>
          <a:ln w="63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825496"/>
            <a:ext cx="51252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B5FD"/>
                </a:solidFill>
                <a:latin typeface="Segoe UI"/>
              </a:rPr>
              <a:t>409 Conflict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981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Duplicate record — email already registered, or application already exists for that listing. Show "You've already applied" with option to view existing.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269748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06152A"/>
          </a:solidFill>
          <a:ln w="952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32220" y="2788920"/>
            <a:ext cx="5234940" cy="256032"/>
          </a:xfrm>
          <a:prstGeom prst="roundRect">
            <a:avLst>
              <a:gd name="adj" fmla="val 6000"/>
            </a:avLst>
          </a:prstGeom>
          <a:solidFill>
            <a:srgbClr val="060914"/>
          </a:solidFill>
          <a:ln w="63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7084" y="2825496"/>
            <a:ext cx="51252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Segoe UI"/>
              </a:rPr>
              <a:t>403 on R2 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9652" y="309981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Content-Type mismatch in the PUT upload. Ensure you pass the exact contentType value from the presigned URL response — not the file's MIME type independently.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6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3886200"/>
            <a:ext cx="5234940" cy="256032"/>
          </a:xfrm>
          <a:prstGeom prst="roundRect">
            <a:avLst>
              <a:gd name="adj" fmla="val 6000"/>
            </a:avLst>
          </a:prstGeom>
          <a:solidFill>
            <a:srgbClr val="060914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922776"/>
            <a:ext cx="51252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Segoe UI"/>
              </a:rPr>
              <a:t>Payment Failed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9709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M-Pesa STK timeout (30s) or insufficient funds. Show clear message. Offer "Try Again" — re-call payment/initiate. No new application needed.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2492" y="3794760"/>
            <a:ext cx="5454396" cy="1005840"/>
          </a:xfrm>
          <a:prstGeom prst="roundRect">
            <a:avLst>
              <a:gd name="adj" fmla="val 10000"/>
            </a:avLst>
          </a:prstGeom>
          <a:solidFill>
            <a:srgbClr val="041418"/>
          </a:solidFill>
          <a:ln w="9525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32220" y="3886200"/>
            <a:ext cx="5234940" cy="256032"/>
          </a:xfrm>
          <a:prstGeom prst="roundRect">
            <a:avLst>
              <a:gd name="adj" fmla="val 6000"/>
            </a:avLst>
          </a:prstGeom>
          <a:solidFill>
            <a:srgbClr val="060914"/>
          </a:solidFill>
          <a:ln w="635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7084" y="3922776"/>
            <a:ext cx="51252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EEAD4"/>
                </a:solidFill>
                <a:latin typeface="Segoe UI"/>
              </a:rPr>
              <a:t>5xx /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9652" y="4197096"/>
            <a:ext cx="51800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Implement exponential backoff with 3 retries for GET requests. For POST/PATCH — check idempotency before retry to avoid duplicate applications.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19472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41003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0109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227"/>
                </a:solidFill>
                <a:latin typeface="Segoe UI"/>
              </a:rPr>
              <a:t>🧪  Testing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285232"/>
            <a:ext cx="10579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BB"/>
                </a:solidFill>
                <a:latin typeface="Segoe UI"/>
              </a:rPr>
              <a:t>M-Pesa sandbox test number: +254742700000  ·  OTPs in dev are logged in Azure Function logs (not sent via email)  ·  Presigned URLs expire in 15 minutes — never cache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-13716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0E0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9144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20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00584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C9A227"/>
                </a:solidFill>
                <a:latin typeface="Segoe UI"/>
              </a:rPr>
              <a:t>StayHere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Mobile 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6974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429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Segoe UI"/>
              </a:rPr>
              <a:t>You're Ready to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91363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Segoe UI"/>
              </a:rPr>
              <a:t>Start with Auth → Home → Explore, then tackle the Rental Flow.
Sage AI and the API reference table are always here for reference.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0176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20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486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Segoe UI"/>
              </a:rPr>
              <a:t>Auth · Browse · Rental Flow
Dashboard · AI Chat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6177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709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500176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25 Endpoints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52486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Segoe UI"/>
              </a:rPr>
              <a:t>Across 5 Azure APIM
service 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6177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0C1426"/>
          </a:solidFill>
          <a:ln w="9525">
            <a:solidFill>
              <a:srgbClr val="22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4709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00176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Production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24865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Segoe UI"/>
              </a:rPr>
              <a:t>Real URLs · Real payloads
Real business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601968"/>
            <a:ext cx="10332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88"/>
                </a:solidFill>
                <a:latin typeface="Segoe UI"/>
              </a:rPr>
              <a:t>Base URL: https://apim-dev-5c27bcf3.azure-api.net   ·   R2 CDN: pub-89021444cd6a4a81bacfa5c1dd0427ea.r2.dev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