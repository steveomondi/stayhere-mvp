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B9A"/>
                </a:solidFill>
              </a:rPr>
              <a:t>ELMA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F7FA"/>
                </a:solidFill>
              </a:rPr>
              <a:t>by StayHere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SMS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0F7FA"/>
                </a:solidFill>
              </a:rPr>
              <a:t>Multi-Channel · Multi-Country · High-Reliability SMS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DD"/>
                </a:solidFill>
              </a:rPr>
              <a:t>Board Presentation  |  Architecture &amp; Engineering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7FA"/>
                </a:solidFill>
              </a:rPr>
              <a:t>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5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5603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B9A"/>
                </a:solidFill>
              </a:rPr>
              <a:t>SMS
◆
INFRA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What the Elma SMS Platform does and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2044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45720" cy="19202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9047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◆ Multi-Channel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6479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App, USSD, and Web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01168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Unified pipeline for all entry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5856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No channel-specific code paths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352044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417320"/>
            <a:ext cx="45720" cy="19202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49047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◆ Queue-Isolated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76479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One queue per Country × Bank ×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01168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Independent scaling per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25856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Fault containment across regions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417320"/>
            <a:ext cx="352044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417320"/>
            <a:ext cx="45720" cy="19202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7" y="149047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◆ Reliable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176479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Persistent RabbitMQ queues (no data loss)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201168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Dead-letter queues for failures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25856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• Exponential backoff retry logic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66160"/>
            <a:ext cx="115214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8B9A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60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Entry 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8B9A"/>
                </a:solidFill>
              </a:rPr>
              <a:t>N×N×N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160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Isolated Queues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8B9A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160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Delivery Protocols
(SMPP + SDP)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8B9A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160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Deployment Tiers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703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8B9A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160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Message Loss
(Dead-letter safety)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212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55555"/>
                </a:solidFill>
              </a:rPr>
              <a:t>Designed for multi-country banking operations — scalable, resilient, protocol-agnostic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11 components across three deployment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20440" cy="658368"/>
          </a:xfrm>
          <a:prstGeom prst="rect">
            <a:avLst/>
          </a:prstGeom>
          <a:solidFill>
            <a:srgbClr val="E0F7FA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5389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App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7335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Native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Mobile client transactions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17320"/>
            <a:ext cx="3520440" cy="658368"/>
          </a:xfrm>
          <a:prstGeom prst="rect">
            <a:avLst/>
          </a:prstGeom>
          <a:solidFill>
            <a:srgbClr val="E0F7FA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417320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45389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USSD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167335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Telecom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19656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Carrier/hosted USSD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417320"/>
            <a:ext cx="3520440" cy="658368"/>
          </a:xfrm>
          <a:prstGeom prst="rect">
            <a:avLst/>
          </a:prstGeom>
          <a:solidFill>
            <a:srgbClr val="E0F7FA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1417320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45389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Web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1673352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Browser/Cloud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1819656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Direct SMS API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12848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212848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2494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Elma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246888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C# .NET / IIS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615184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Central transaction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212848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2212848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22494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SMS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46888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C# .NET / 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2615184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Web channel entry 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2212848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2212848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9288" y="224942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RabbitMQ Wrapper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246888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C# .NET / 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2615184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Queue name resolution &amp; publish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08376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008376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30449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RabbitMQ Broker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3264408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Docker/VM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3410712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Durable message persistence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008376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008376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4528" y="30449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Queue Processor×N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4528" y="3264408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C# Worker / 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4528" y="3410712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One per queue — AMQP consumer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3008376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09560" y="3008376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9288" y="30449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SMS Splitter GW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9288" y="3264408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C# .NET / IIS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9288" y="3410712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MNO routing by MSISDN prefix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03904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3803904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MNO Passthrough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" y="4059936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Node.js / PM2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" y="420624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HTTP-to-SMPP/SDP adapter per MNO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3803904"/>
            <a:ext cx="35204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008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0" y="3803904"/>
            <a:ext cx="45720" cy="65836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4528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MNO SMSC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24528" y="4059936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9A"/>
                </a:solidFill>
              </a:rPr>
              <a:t>Node.js / PM2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528" y="420624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SMPP/SDP client delivery module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6309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</a:rPr>
              <a:t>Light teal = Channel / Entry  |  Light grey = Processing /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Three Entry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All converge on the same asynchronous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📱 App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8B9A"/>
                </a:solidFill>
              </a:rPr>
              <a:t>POST /api/transactions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57400"/>
            <a:ext cx="3749039" cy="2926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45720" cy="292608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1488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Sent to Elma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65176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Transaction validated &amp; SMS need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15468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Enqueued asynchronously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6576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202 Accepted returned immediately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1605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Typical triggers: OTP, balance alert, confirmation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417320"/>
            <a:ext cx="3749039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📟 USSD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7190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8B9A"/>
                </a:solidFill>
              </a:rPr>
              <a:t>POST /api/ussd/session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057400"/>
            <a:ext cx="3749039" cy="2926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057400"/>
            <a:ext cx="45720" cy="292608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7" y="21488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Mirrors App channel exactly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265176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USSD response returned immediately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315468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SMS delivery is fully asynchronous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36576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No blocking of USSD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41605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Same queue pipeline as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417320"/>
            <a:ext cx="3749039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Web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7190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8B9A"/>
                </a:solidFill>
              </a:rPr>
              <a:t>POST /api/sms/send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057400"/>
            <a:ext cx="3749039" cy="2926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2057400"/>
            <a:ext cx="45720" cy="292608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21488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Hits SMS API directly (bypasses Elma Core)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265176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Pre-processed / external sender use-case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15468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SMS API → RabbitMQ Wrapper → Queue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36576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Independently scalable endpoint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41605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Suitable for bulk or direct API callers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20640"/>
            <a:ext cx="1152144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303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All three channels converge on the same RabbitMQ queue pipeline — ensuring identical delivery guarantees regardless of entry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End-to-End Message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App &amp; USSD path — 8 steps from transaction to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Transaction
Posted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8488" y="2039112"/>
            <a:ext cx="32004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2808" y="19568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B9A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SMS Output
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039112"/>
            <a:ext cx="32004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9568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B9A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Queue
Name Resolved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1768" y="2039112"/>
            <a:ext cx="32004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19568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B9A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811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202 Accepted
Returned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93408" y="2039112"/>
            <a:ext cx="32004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19568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B9A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Queue
Processor
Consumes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5048" y="2039112"/>
            <a:ext cx="32004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9367" y="19568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B9A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SMS Splitter
Routes by
MSISDN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76688" y="2039112"/>
            <a:ext cx="32004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1007" y="19568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B9A"/>
                </a:solidFill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6988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4303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7352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MNO
Passthrough
Delivers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768328" y="2039112"/>
            <a:ext cx="32004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42648" y="19568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8B9A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61520" y="1554480"/>
            <a:ext cx="1298448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34672" y="1609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9A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08992" y="1627632"/>
            <a:ext cx="886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ACK Received
&amp; Msg Removed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633472"/>
            <a:ext cx="1152144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Elma Core receives POST /api/transactions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Inspects output — OTP, alert, confirmation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Queue: {COUNTRY}_{BANK}_{CATEGORY}_SMS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HTTP client unblocked immediately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Long-lived AMQP consumer subscription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Prefix match: +25677 → Airtel Uganda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SMPP PDU or SDP HTTP to MNO SMSC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270662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55555"/>
                </a:solidFill>
              </a:rPr>
              <a:t>delivery_mode=2 persistence ensured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160520"/>
            <a:ext cx="11521440" cy="8229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4160520"/>
            <a:ext cx="45720" cy="82296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224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Web Channel Path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4622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2E"/>
                </a:solidFill>
              </a:rPr>
              <a:t>POST /api/sms/send  →  SMS API  →  RabbitMQ API Wrapper  →  Queue  →  Steps 5–8 identical to App/USSD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138928"/>
            <a:ext cx="1152144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2578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Async-first design: MNO back-pressure never reaches the transaction layer — Elma Core returns 202 before any SMS delivery attempt.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Queue Naming &amp; Routing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Granular isolation enables independent scaling, tuning, and fault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9A"/>
                </a:solidFill>
              </a:rPr>
              <a:t>Queue Name Format: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{COUNTRY}  _  {BANK_ID}  _  {CATEGORY}  _  SMS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33472"/>
            <a:ext cx="4114800" cy="34747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79191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UGANDA_99_OTP_SMS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7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Uganda · Bank 99 · One-Time Password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44952"/>
            <a:ext cx="4114800" cy="34747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0906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KENYA_12_PROMO_SMS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Kenya · Bank 12 · Promotional messages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56432"/>
            <a:ext cx="4114800" cy="34747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502151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3E"/>
                </a:solidFill>
              </a:rPr>
              <a:t>TANZANIA_07_ALERT_SMS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3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Tanzania · Bank 7 · Account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Operational Benefits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33472"/>
            <a:ext cx="5257800" cy="56692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2633472"/>
            <a:ext cx="45720" cy="56692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26700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Independent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290779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Per-segment throughput without cross-contamination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273552"/>
            <a:ext cx="5257800" cy="56692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273552"/>
            <a:ext cx="45720" cy="56692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3101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Priority 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3547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OTP: high prefetch · PROMO: low prefetch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913631"/>
            <a:ext cx="5257800" cy="56692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3913631"/>
            <a:ext cx="45720" cy="56692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395020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Fault Isolation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418795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Country outage does not affect other regions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553712"/>
            <a:ext cx="5257800" cy="56692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4553712"/>
            <a:ext cx="45720" cy="56692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45902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Auditability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482803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Queue depth reveals delivery delays per segment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5193792"/>
            <a:ext cx="5257800" cy="56692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5193792"/>
            <a:ext cx="45720" cy="566928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3408" y="52303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Durability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5468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durable:true + delivery_mode:2 — no message loss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989320"/>
            <a:ext cx="11521440" cy="50292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0807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1B3E"/>
                </a:solidFill>
              </a:rPr>
              <a:t>Dead-letter queues capture all undeliverable messages — no silent failures.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RabbitMQ &amp; Queue Processors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Durable message bus with per-queue worker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RabbitMQ Message Broker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10512"/>
            <a:ext cx="548640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10512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Persistent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66543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durable:true queues + delivery_mode:2 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32304"/>
            <a:ext cx="548640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32304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Management UI/API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8833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Real-time queue depth &amp; throughput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54096"/>
            <a:ext cx="548640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54096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0906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AMQP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3101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Standard wire protocol for .NET consumers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548640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712463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Dead-letter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3192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Failed messages auto-routed to DLQ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97680"/>
            <a:ext cx="548640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97680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3425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Horizontal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55371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Clustering supported for HA deployments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417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Queue Processor Workers (×N)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810512"/>
            <a:ext cx="57607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810512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1847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One per queue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66543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Dedicated .NET Worker Service container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32304"/>
            <a:ext cx="57607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432304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Long-lived consumer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6883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Single AMQP subscription — no polling overhead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054096"/>
            <a:ext cx="57607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054096"/>
            <a:ext cx="45720" cy="530352"/>
          </a:xfrm>
          <a:prstGeom prst="rect">
            <a:avLst/>
          </a:prstGeom>
          <a:solidFill>
            <a:srgbClr val="009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0906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HTTP 2xx → 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31012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Message permanently removed from queue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675887"/>
            <a:ext cx="57607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675887"/>
            <a:ext cx="45720" cy="5303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3712463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HTTP 4xx → NACK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3931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requeue=false → dead-letter queue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97680"/>
            <a:ext cx="57607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97680"/>
            <a:ext cx="45720" cy="53035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433425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HTTP 5xx → NACK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45537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requeue=true → retry up to limit → DLQ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919472"/>
            <a:ext cx="57607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4919472"/>
            <a:ext cx="45720" cy="530352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49560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Horizontal scaling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1755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Multiple replicas share same queue (round-robin)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1371600"/>
            <a:ext cx="36576" cy="46634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SMS Splitter Gateway &amp; MNO Delivery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Intelligent routing from queue processor to mobile network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303520" cy="4160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45720" cy="41605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SMS Splitter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8B9A"/>
                </a:solidFill>
              </a:rPr>
              <a:t>C# .NET · IIS (Windows Server)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Receives HTTP POST from Queue Processors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Extracts destination MSISDN from payload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98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Longest-prefix match: +25677 → Airtel Uganda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Forwards to resolved MNO Passthrough API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98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Centralises routing table — one place to update MNO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Per-MNO throughput logging &amp; latency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811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Optional fallback to secondary MNO on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01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• Decouples processors from MNO-specific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17320"/>
            <a:ext cx="5943600" cy="4160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417320"/>
            <a:ext cx="45720" cy="41605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48132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MNO Passthrough API + SMSC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8B9A"/>
                </a:solidFill>
              </a:rPr>
              <a:t>Node.js · PM2 (Linux)  —  one instance per MNO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05740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9A"/>
                </a:solidFill>
              </a:rPr>
              <a:t>Passthrough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3134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Accepts normalised HTTP SMS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5694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Translates to MNO-specific protocol (SMPP / SDP)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82549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Submits to co-located SMSC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0815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Returns delivery status to Splitter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42900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9A"/>
                </a:solidFill>
              </a:rPr>
              <a:t>SMSC Module (SMPP)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6850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Persistent TCP connection to MNO SMSC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9410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Manages bind/rebind, enquire_link keepalives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19709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Configurable window size &amp; sequence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4531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Exponential backoff rebind on session 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80060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9A"/>
                </a:solidFill>
              </a:rPr>
              <a:t>SMSC Module (SDP)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0566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HTTP/HTTPS interface with auth &amp; request signing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3126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Delivery receipts: correlates submit_sm_resp ACKs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56869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Processes deliver_sm receipts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8247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Supports SMPP 3.4 and SDP HTTP protocols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0992" y="3246120"/>
            <a:ext cx="256032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3872" y="314553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B9A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Deployment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Three-tier infrastructure — Windows IIS · Docker · Linux PM2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65760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8132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Tier 1 — Windows Server (IIS)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3657600" cy="365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93392"/>
            <a:ext cx="45720" cy="3657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0848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Elma Core (.NET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42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SMS Splitter Gateway (.NET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456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  Role: Transaction processing &amp; MNO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9136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  Runtime: IIS on Windows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3708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  Scaling: Vertical or load-balanced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417320"/>
            <a:ext cx="3657600" cy="548640"/>
          </a:xfrm>
          <a:prstGeom prst="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148132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Tier 2 — Docker 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993392"/>
            <a:ext cx="3657600" cy="365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993392"/>
            <a:ext cx="45720" cy="3657600"/>
          </a:xfrm>
          <a:prstGeom prst="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848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SMS API (C# container)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542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RabbitMQ API Wrapper (C# container)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99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Queue Processors A … N (Worker Svc containers)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56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RabbitMQ Broker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3708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  Runtime: Docker (containerised)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280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  Scaling: Horizontal container replicas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1417320"/>
            <a:ext cx="3657600" cy="548640"/>
          </a:xfrm>
          <a:prstGeom prst="rect">
            <a:avLst/>
          </a:prstGeom>
          <a:solidFill>
            <a:srgbClr val="1A5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148132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Tier 3 — Linux Server (PM2)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1993392"/>
            <a:ext cx="3657600" cy="365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38744" y="1993392"/>
            <a:ext cx="45720" cy="3657600"/>
          </a:xfrm>
          <a:prstGeom prst="rect">
            <a:avLst/>
          </a:prstGeom>
          <a:solidFill>
            <a:srgbClr val="1A5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20848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MNO-A Passthrough + SMSC (Node.js)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542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MNO-B Passthrough + SMSC (Node.js)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2999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▸ MNO-N … (one process per MNO)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9136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  Runtime: PM2 process manager on Linux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43708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  Scaling: PM2 multi-instance per MNO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8B9A"/>
                </a:solidFill>
              </a:rPr>
              <a:t>⟵  API calls  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8B9A"/>
                </a:solidFill>
              </a:rPr>
              <a:t>⟵  HTTP POST  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833872"/>
            <a:ext cx="11521440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All tiers are independently deployable. Tier 1 (IIS) handles business logic · Tier 2 (Docker) handles async messaging · Tier 3 (Linux/PM2) handles MNO protocol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Failure Modes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Every failure scenario has a defined mitigation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2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0112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47088"/>
            <a:ext cx="115214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91109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Elma Core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Transactions fail; no new SMS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Auto-restart + health-check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40112" y="1956816"/>
            <a:ext cx="155448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40112" y="19568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77440"/>
            <a:ext cx="11521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441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Queue API Wrapper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4414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Elma Core error; may retry internally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4414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Container restart + Elma backoff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0112" y="2487168"/>
            <a:ext cx="1554480" cy="2743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2487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07791"/>
            <a:ext cx="115214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97179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RabbitMQ broker 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297179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No new messages; existing safe on disk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97179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Clustering + persistent disk 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40112" y="3017520"/>
            <a:ext cx="1554480" cy="2743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2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38144"/>
            <a:ext cx="11521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50215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Queue Processor crash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350215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Messages unACKed, auto-requeued by broker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50215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Auto-restart + consumer_timeout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0112" y="3547872"/>
            <a:ext cx="1554480" cy="2743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3547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68496"/>
            <a:ext cx="115214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40325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SMS Splitter Gateway down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03250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5xx from processor → NACK &amp; requeue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403250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Backoff + dead-letter 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40112" y="4078224"/>
            <a:ext cx="1554480" cy="2743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40112" y="40782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498848"/>
            <a:ext cx="11521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45628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MNO Passthrough 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5628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Delivery fails; propagates to processor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45628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PM2 auto-restart + fallback MNO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0112" y="4608576"/>
            <a:ext cx="1554480" cy="2743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0112" y="46085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029200"/>
            <a:ext cx="11521440" cy="4846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5093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SMPP session lost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6432" y="50932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Delivery pauses until rebind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50932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Exponential backoff rebind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40112" y="5138928"/>
            <a:ext cx="1554480" cy="274320"/>
          </a:xfrm>
          <a:prstGeom prst="rect">
            <a:avLst/>
          </a:prstGeom>
          <a:solidFill>
            <a:srgbClr val="009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40112" y="5138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559552"/>
            <a:ext cx="11521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5623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</a:rPr>
              <a:t>MNO network outage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6432" y="5623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SMSC-level failure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5623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Dead-letter queue + scheduled retry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40112" y="5669280"/>
            <a:ext cx="155448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40112" y="5669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6126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■ High risk   ■ Medium risk   ■ Low / Auto-recovered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Non-Functional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Throughput · Durability · Observability ·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697480" cy="4572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81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Throughput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01952"/>
            <a:ext cx="269748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45720" cy="41148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933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Queue Processor: bounded by SMS Splitter response time + prefetch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743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SMS Splitter Gateway: stateless HTTP handler — vertical scale or load balancer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4930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MNO Passthrough: bounded by SMPP window size (10–100 PDUs)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242816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PM2 supports multiple instances per MNO for higher 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992624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OTP queues: high prefetch  ·  PROMO queues: low prefetch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1417320"/>
            <a:ext cx="2697480" cy="457200"/>
          </a:xfrm>
          <a:prstGeom prst="rect">
            <a:avLst/>
          </a:prstGeom>
          <a:solidFill>
            <a:srgbClr val="009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481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Durability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1901952"/>
            <a:ext cx="269748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4992" y="1901952"/>
            <a:ext cx="45720" cy="4114800"/>
          </a:xfrm>
          <a:prstGeom prst="rect">
            <a:avLst/>
          </a:prstGeom>
          <a:solidFill>
            <a:srgbClr val="009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9933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All RabbitMQ queues declared durable:true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743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All messages sent with delivery_mode:2 (persisted to disk)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4930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Dead-letter queues prevent silent message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42816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SMPP persistent TCP with enquire_link keepalives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992624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Exponential backoff ensures no storm on reconnect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9944" y="1417320"/>
            <a:ext cx="269748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3" y="1481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9944" y="1901952"/>
            <a:ext cx="269748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9944" y="1901952"/>
            <a:ext cx="4572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19933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Queue depth via RabbitMQ Management UI /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2743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Delivery latency: timestamped at enqueue &amp; SMSC 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4930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SMPP session health via enquire_link cycle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242816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Per-MNO throughput logging in SMS Splitter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992624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Dead-letter queue depth = unresolved delivery failures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54896" y="1417320"/>
            <a:ext cx="2697480" cy="457200"/>
          </a:xfrm>
          <a:prstGeom prst="rect">
            <a:avLst/>
          </a:prstGeom>
          <a:solidFill>
            <a:srgbClr val="5B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46336" y="1481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&amp; 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1901952"/>
            <a:ext cx="269748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54896" y="1901952"/>
            <a:ext cx="45720" cy="4114800"/>
          </a:xfrm>
          <a:prstGeom prst="rect">
            <a:avLst/>
          </a:prstGeom>
          <a:solidFill>
            <a:srgbClr val="5B0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64624" y="19933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TLS on all inter-service HTTP connections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27432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SMPP bind credentials per MNO (not shared)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34930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SDP HTTP auth &amp; request signing per MNO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4242816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Container isolation for queue processors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4624" y="4992624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2E"/>
                </a:solidFill>
              </a:rPr>
              <a:t>• IIS on Windows Server for Elma Core (enterprise hardened)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0F7FA"/>
                </a:solidFill>
              </a:rPr>
              <a:t>Architecture choices and the problems they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62356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45720" cy="219456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36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1. Async-First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B9A"/>
                </a:solidFill>
              </a:rPr>
              <a:t>Problem: MNO latency variability (50ms – 10s) would block transaction APIs.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77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Decision: Enqueue SMS immediately; return 202 Accepted to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8529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657"/>
                </a:solidFill>
              </a:rPr>
              <a:t>Benefit: Transaction layer never waits for carrier.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62356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45720" cy="219456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36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2. Queue-per-Segment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9019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B9A"/>
                </a:solidFill>
              </a:rPr>
              <a:t>Problem: A slow MNO in one country was starving OTP delivery for another bank.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377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Decision: Isolate by COUNTRY × BANK_ID × CATEGORY.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8529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657"/>
                </a:solidFill>
              </a:rPr>
              <a:t>Benefit: Fault containment; independent priority tuning.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562356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45720" cy="219456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913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3. Protocol Abstraction (Splitter + Passthrough)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2793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B9A"/>
                </a:solidFill>
              </a:rPr>
              <a:t>Problem: Queue processors would need MNO-specific SMPP/SDP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7548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Decision: Two-layer gateway (Splitter routes, Passthrough adapts).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52303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657"/>
                </a:solidFill>
              </a:rPr>
              <a:t>Benefit: New MNO integration = one new Passthrough instance, no processor changes.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562356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45720" cy="219456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3913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4. Node.js for SMPP/SDP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2793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B9A"/>
                </a:solidFill>
              </a:rPr>
              <a:t>Problem: .NET SMPP libraries lacked mature async keep-alive handling for African MNOs.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7548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</a:rPr>
              <a:t>Decision: Node.js with event-loop for SMPP TCP persistence.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2303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657"/>
                </a:solidFill>
              </a:rPr>
              <a:t>Benefit: Non-blocking SMPP window management; PM2 restart on crash.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Glossary of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4996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AMQP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190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Advanced Message Queuing Protocol — RabbitMQ wire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84832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84832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1214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SMPP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3408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Short Message Peer-to-Peer — binary protocol for SMSC submission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06624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706624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SMSC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296265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Short Message Service Centre — MNO system for SMS storage/forwarding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28416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328416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364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SDP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35844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Service Delivery Platform — HTTP/HTTPS SMS gateway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50208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950208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9867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MNO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Mobile Network Operator — telecom carrier (MTN, Airtel, Safaricom …)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572000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572000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46085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MSISDN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48280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International mobile phone number (E.164 format)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93792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193792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52303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OTP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44982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One-Time Password — time-sensitive auth SMS category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463040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463040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49961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PM2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17190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Process Manager 2 for Node.js — keeps processes running, auto-restarts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084832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084832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21214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IIS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23408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Internet Information Services — Microsoft enterprise web server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706624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2706624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DLQ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296265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Dead-letter queue — holds failed messages for manual inspection/retry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328416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328416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33649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Worker 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35844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Background .NET long-running service — no HTTP listener, just consumers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950208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950208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98678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Prefetch count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3368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Number of unACKed messages a consumer holds — RabbitMQ flow control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4572000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4572000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368" y="460857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Window size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3368" y="48280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SMPP: max outstanding PDUs before awaiting acknowledgement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5193792"/>
            <a:ext cx="55778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5193792"/>
            <a:ext cx="45720" cy="54864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73368" y="523036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NACK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44982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Negative acknowledgement — tells broker message was not processed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3716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9A"/>
                </a:solidFill>
              </a:rPr>
              <a:t>ELMA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SMS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0F7FA"/>
                </a:solidFill>
              </a:rPr>
              <a:t>Multi-Channel  ·  Queue-Isolated  ·  Protocol-Agnostic  ·  Resilient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Three entry channels (App, USSD, Web) converge on one async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Granular queue isolation per Country × Bank ×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284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Async-first: MNO back-pressure never impacts transaction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039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Dead-letter queues guarantee zero silent message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793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Three-tier deployment: IIS · Docker · Linux/PM2 — independently 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9A"/>
                </a:solidFill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F7FA"/>
                </a:solidFill>
              </a:rPr>
              <a:t>June 2026  ·  StayHere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